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The separability lemma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14:m>
                  <m:oMath xmlns:m="http://schemas.openxmlformats.org/officeDocument/2006/math">
                    <m:r>
                      <m:t>V</m:t>
                    </m:r>
                  </m:oMath>
                </a14:m>
                <a:r>
                  <a:rPr/>
                  <a:t> — the rating variables;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⊆</m:t>
                    </m:r>
                    <m:r>
                      <m:t>V</m:t>
                    </m:r>
                  </m:oMath>
                </a14:m>
                <a:r>
                  <a:rPr/>
                  <a:t> is a set of variables</a:t>
                </a:r>
              </a:p>
              <a:p>
                <a:pPr lvl="0"/>
                <a14:m>
                  <m:oMath xmlns:m="http://schemas.openxmlformats.org/officeDocument/2006/math">
                    <m:r>
                      <m:t>M</m:t>
                    </m:r>
                    <m:r>
                      <m:rPr>
                        <m:sty m:val="p"/>
                      </m:rPr>
                      <m:t>⊆</m:t>
                    </m:r>
                    <m:r>
                      <m:rPr>
                        <m:sty m:val="p"/>
                        <m:scr m:val="script"/>
                      </m:rP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V</m:t>
                        </m:r>
                      </m:e>
                    </m:d>
                  </m:oMath>
                </a14:m>
                <a:r>
                  <a:rPr/>
                  <a:t> — the sets that carry a term in the model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t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 — the term on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; </a:t>
                </a:r>
                <a14:m>
                  <m:oMath xmlns:m="http://schemas.openxmlformats.org/officeDocument/2006/math">
                    <m:sSub>
                      <m:e>
                        <m:r>
                          <m:t>β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ln</m:t>
                    </m:r>
                    <m:sSub>
                      <m:e>
                        <m:r>
                          <m:t>g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is its coefficient table</a:t>
                </a:r>
              </a:p>
              <a:p>
                <a:pPr lvl="0"/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∈</m:t>
                    </m:r>
                    <m:r>
                      <m:t>M</m:t>
                    </m:r>
                  </m:oMath>
                </a14:m>
                <a:r>
                  <a:rPr/>
                  <a:t> — the term whose table we want; </a:t>
                </a:r>
                <a14:m>
                  <m:oMath xmlns:m="http://schemas.openxmlformats.org/officeDocument/2006/math">
                    <m:acc>
                      <m:accPr>
                        <m:chr m:val="‾"/>
                      </m:accPr>
                      <m:e>
                        <m:r>
                          <m:t>T</m:t>
                        </m:r>
                      </m:e>
                    </m:acc>
                    <m:r>
                      <m:rPr>
                        <m:sty m:val="p"/>
                      </m:rPr>
                      <m:t>=</m:t>
                    </m:r>
                    <m:r>
                      <m:t>V</m:t>
                    </m:r>
                    <m:r>
                      <m:rPr>
                        <m:sty m:val="p"/>
                      </m:rPr>
                      <m:t>\</m:t>
                    </m:r>
                    <m:r>
                      <m:t>T</m:t>
                    </m:r>
                  </m:oMath>
                </a14:m>
              </a:p>
              <a:p>
                <a:pPr lvl="0"/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 — a row; </a:t>
                </a:r>
                <a14:m>
                  <m:oMath xmlns:m="http://schemas.openxmlformats.org/officeDocument/2006/math">
                    <m:sSub>
                      <m:e>
                        <m:r>
                          <m:t>z</m:t>
                        </m:r>
                      </m:e>
                      <m:sub>
                        <m:r>
                          <m:t>T</m:t>
                        </m:r>
                      </m:sub>
                    </m:sSub>
                  </m:oMath>
                </a14:m>
                <a:r>
                  <a:rPr/>
                  <a:t> — chosen values for the variables in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t>z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  <a:r>
                  <a:rPr/>
                  <a:t> — base values</a:t>
                </a:r>
              </a:p>
              <a:p>
                <a:pPr lvl="0"/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z</m:t>
                            </m:r>
                          </m:e>
                          <m:sub>
                            <m:r>
                              <m:t>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;</m:t>
                        </m:r>
                        <m:r>
                          <m:t> 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T</m:t>
                                </m:r>
                              </m:e>
                            </m:acc>
                          </m:sub>
                        </m:sSub>
                      </m:e>
                    </m:d>
                  </m:oMath>
                </a14:m>
                <a:r>
                  <a:rPr/>
                  <a:t> — the row with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fixed at </a:t>
                </a:r>
                <a14:m>
                  <m:oMath xmlns:m="http://schemas.openxmlformats.org/officeDocument/2006/math">
                    <m:r>
                      <m:t>z</m:t>
                    </m:r>
                  </m:oMath>
                </a14:m>
                <a:r>
                  <a:rPr/>
                  <a:t> and everything else left as it is</a:t>
                </a:r>
              </a:p>
              <a:p>
                <a:pPr lvl="0"/>
                <a14:m>
                  <m:oMath xmlns:m="http://schemas.openxmlformats.org/officeDocument/2006/math">
                    <m:sSub>
                      <m:e>
                        <m:r>
                          <m:t>E</m:t>
                        </m:r>
                      </m:e>
                      <m:sub>
                        <m:r>
                          <m:t>P</m:t>
                        </m:r>
                      </m:sub>
                    </m:sSub>
                    <m:d>
                      <m:dPr>
                        <m:begChr m:val="["/>
                        <m:sepChr m:val=""/>
                        <m:endChr m:val="]"/>
                        <m:grow/>
                      </m:dPr>
                      <m:e>
                        <m:r>
                          <m:t> </m:t>
                        </m:r>
                        <m:r>
                          <m:rPr>
                            <m:sty m:val="p"/>
                          </m:rPr>
                          <m:t>⋅</m:t>
                        </m:r>
                        <m:r>
                          <m:t> </m:t>
                        </m:r>
                      </m:e>
                    </m:d>
                  </m:oMath>
                </a14:m>
                <a:r>
                  <a:rPr/>
                  <a:t> — exposure-weighted mean over the rows of a data set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</a:p>
            </p:txBody>
          </p:sp>
        </mc:Choice>
      </mc:AlternateContent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Three relations to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Every set of variables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⊆</m:t>
                    </m:r>
                    <m:r>
                      <m:t>V</m:t>
                    </m:r>
                  </m:oMath>
                </a14:m>
                <a:r>
                  <a:rPr/>
                  <a:t> stands in exactly one relation to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⊆</m:t>
                            </m:r>
                            <m:r>
                              <m:t>T</m:t>
                            </m:r>
                          </m:e>
                          <m:e/>
                          <m:e/>
                          <m:e>
                            <m:r>
                              <m:rPr>
                                <m:nor/>
                                <m:sty m:val="p"/>
                              </m:rPr>
                              <m:t>inside </m:t>
                            </m:r>
                            <m:r>
                              <m:t>T</m:t>
                            </m:r>
                          </m:e>
                        </m:mr>
                        <m:mr>
                          <m:e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∩</m:t>
                            </m:r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∅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</m:t>
                            </m:r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≠</m:t>
                            </m:r>
                            <m:r>
                              <m:rPr>
                                <m:sty m:val="p"/>
                              </m:rPr>
                              <m:t>∅</m:t>
                            </m:r>
                          </m:e>
                          <m:e/>
                          <m:e/>
                          <m:e>
                            <m:r>
                              <m:rPr>
                                <m:nor/>
                                <m:sty m:val="p"/>
                              </m:rPr>
                              <m:t>disjoint from </m:t>
                            </m:r>
                            <m:r>
                              <m:t>T</m:t>
                            </m:r>
                          </m:e>
                        </m:mr>
                        <m:mr>
                          <m:e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∩</m:t>
                            </m:r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≠</m:t>
                            </m:r>
                            <m:r>
                              <m:rPr>
                                <m:sty m:val="p"/>
                              </m:rPr>
                              <m:t>∅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 </m:t>
                            </m:r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⊈</m:t>
                            </m:r>
                            <m:r>
                              <m:t>T</m:t>
                            </m:r>
                          </m:e>
                          <m:e/>
                          <m:e/>
                          <m:e>
                            <m:r>
                              <m:rPr>
                                <m:nor/>
                                <m:sty m:val="p"/>
                              </m:rPr>
                              <m:t>overlapping </m:t>
                            </m:r>
                            <m:r>
                              <m:t>T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 partway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This partitions </a:t>
                </a:r>
                <a14:m>
                  <m:oMath xmlns:m="http://schemas.openxmlformats.org/officeDocument/2006/math">
                    <m:r>
                      <m:rPr>
                        <m:sty m:val="p"/>
                        <m:scr m:val="script"/>
                      </m:rPr>
                      <m:t>P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V</m:t>
                        </m:r>
                      </m:e>
                    </m:d>
                  </m:oMath>
                </a14:m>
                <a:r>
                  <a:rPr/>
                  <a:t>. The model’s terms inherit it: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Q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M</m:t>
                      </m:r>
                      <m:r>
                        <m:rPr>
                          <m:sty m:val="p"/>
                        </m:rPr>
                        <m:t>∩</m:t>
                      </m:r>
                      <m:r>
                        <m:rPr>
                          <m:sty m:val="p"/>
                          <m:scr m:val="script"/>
                        </m:rPr>
                        <m:t>P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T</m:t>
                          </m:r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Q</m:t>
                      </m:r>
                      <m:r>
                        <m:rPr>
                          <m:sty m:val="p"/>
                        </m:rPr>
                        <m:t>′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{</m:t>
                      </m:r>
                      <m:r>
                        <m:t> 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∈</m:t>
                      </m:r>
                      <m:r>
                        <m:t>M</m:t>
                      </m:r>
                      <m:r>
                        <m:rPr>
                          <m:sty m:val="p"/>
                        </m:rPr>
                        <m:t>: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∩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sty m:val="p"/>
                        </m:rPr>
                        <m:t>∅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 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≠</m:t>
                      </m:r>
                      <m:r>
                        <m:rPr>
                          <m:sty m:val="p"/>
                        </m:rPr>
                        <m:t>∅</m:t>
                      </m:r>
                      <m:r>
                        <m:t> </m:t>
                      </m:r>
                      <m:r>
                        <m:rPr>
                          <m:sty m:val="p"/>
                        </m:rPr>
                        <m:t>}</m:t>
                      </m:r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r>
                        <m:t>Q</m:t>
                      </m:r>
                      <m:r>
                        <m:rPr>
                          <m:sty m:val="p"/>
                        </m:rPr>
                        <m:t>″</m:t>
                      </m:r>
                      <m:r>
                        <m:rPr>
                          <m:sty m:val="p"/>
                        </m:rPr>
                        <m:t>=</m:t>
                      </m:r>
                      <m:r>
                        <m:t>M</m:t>
                      </m:r>
                      <m:r>
                        <m:rPr>
                          <m:sty m:val="p"/>
                        </m:rPr>
                        <m:t>\</m:t>
                      </m:r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Q</m:t>
                          </m:r>
                          <m:r>
                            <m:rPr>
                              <m:sty m:val="p"/>
                            </m:rPr>
                            <m:t>∪</m:t>
                          </m:r>
                          <m:r>
                            <m:t>Q</m:t>
                          </m:r>
                          <m:r>
                            <m:rPr>
                              <m:sty m:val="p"/>
                            </m:rPr>
                            <m:t>′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Example. Terms age, sex, breed, weight, deductible, age×weight, breed×weight;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{</m:t>
                    </m:r>
                    <m:r>
                      <m:rPr>
                        <m:nor/>
                        <m:sty m:val="p"/>
                      </m:rPr>
                      <m:t>age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.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{</m:t>
                    </m:r>
                    <m:r>
                      <m:rPr>
                        <m:sty m:val="p"/>
                      </m:rPr>
                      <m:t>∅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nor/>
                        <m:sty m:val="p"/>
                      </m:rPr>
                      <m:t>age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 </m:t>
                    </m:r>
                    <m:r>
                      <m:t>Q</m:t>
                    </m:r>
                    <m:r>
                      <m:rPr>
                        <m:sty m:val="p"/>
                      </m:rPr>
                      <m:t>′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{</m:t>
                    </m:r>
                    <m:r>
                      <m:rPr>
                        <m:nor/>
                        <m:sty m:val="p"/>
                      </m:rPr>
                      <m:t>sex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nor/>
                        <m:sty m:val="p"/>
                      </m:rPr>
                      <m:t>breed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nor/>
                        <m:sty m:val="p"/>
                      </m:rPr>
                      <m:t>weight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nor/>
                        <m:sty m:val="p"/>
                      </m:rPr>
                      <m:t>deductible</m:t>
                    </m:r>
                    <m:r>
                      <m:rPr>
                        <m:sty m:val="p"/>
                      </m:rPr>
                      <m:t>,</m:t>
                    </m:r>
                    <m:r>
                      <m:rPr>
                        <m:nor/>
                        <m:sty m:val="p"/>
                      </m:rPr>
                      <m:t>breed×weight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 </m:t>
                    </m:r>
                    <m:r>
                      <m:t>Q</m:t>
                    </m:r>
                    <m:r>
                      <m:rPr>
                        <m:sty m:val="p"/>
                      </m:rPr>
                      <m:t>″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{</m:t>
                    </m:r>
                    <m:r>
                      <m:rPr>
                        <m:nor/>
                        <m:sty m:val="p"/>
                      </m:rPr>
                      <m:t>age×weight</m:t>
                    </m:r>
                    <m:r>
                      <m:rPr>
                        <m:sty m:val="p"/>
                      </m:rPr>
                      <m:t>}</m:t>
                    </m:r>
                  </m:oMath>
                </a14:m>
                <a:r>
                  <a:rPr/>
                  <a:t>.</a:t>
                </a:r>
              </a:p>
            </p:txBody>
          </p:sp>
        </mc:Choice>
      </mc:AlternateContent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model, term by term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ln</m:t>
                      </m:r>
                      <m:acc>
                        <m:accPr>
                          <m:chr m:val="̂"/>
                        </m:accPr>
                        <m:e>
                          <m:r>
                            <m:t>μ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limLow>
                            <m:e>
                              <m:sSub>
                                <m:e>
                                  <m:r>
                                    <m:t>β</m:t>
                                  </m:r>
                                </m:e>
                                <m:sub>
                                  <m:r>
                                    <m:t>0</m:t>
                                  </m:r>
                                </m:sub>
                              </m:sSub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intercept</m:t>
                          </m:r>
                        </m:lim>
                      </m:limLow>
                      <m:r>
                        <m:rPr>
                          <m:sty m:val="p"/>
                        </m:rPr>
                        <m:t>+</m:t>
                      </m:r>
                      <m:limLow>
                        <m:e>
                          <m:limLow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d>
                                    <m:dPr>
                                      <m:begChr m:val="|"/>
                                      <m:sepChr m:val=""/>
                                      <m:endChr m:val="|"/>
                                      <m:grow/>
                                    </m:dPr>
                                    <m:e>
                                      <m:r>
                                        <m:t>t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m:t>=</m:t>
                                  </m:r>
                                  <m:r>
                                    <m:t>1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m:t>β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nary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main effects</m:t>
                          </m:r>
                        </m:lim>
                      </m:limLow>
                      <m:r>
                        <m:rPr>
                          <m:sty m:val="p"/>
                        </m:rPr>
                        <m:t>+</m:t>
                      </m:r>
                      <m:limLow>
                        <m:e>
                          <m:limLow>
                            <m:e>
                              <m:nary>
                                <m:naryPr>
                                  <m:chr m:val="∑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d>
                                    <m:dPr>
                                      <m:begChr m:val="|"/>
                                      <m:sepChr m:val=""/>
                                      <m:endChr m:val="|"/>
                                      <m:grow/>
                                    </m:dPr>
                                    <m:e>
                                      <m:r>
                                        <m:t>t</m:t>
                                      </m:r>
                                    </m:e>
                                  </m:d>
                                  <m:r>
                                    <m:rPr>
                                      <m:sty m:val="p"/>
                                    </m:rPr>
                                    <m:t>≥</m:t>
                                  </m:r>
                                  <m:r>
                                    <m:t>2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m:t>β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nary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rPr>
                              <m:nor/>
                              <m:sty m:val="p"/>
                            </m:rPr>
                            <m:t>interactions</m:t>
                          </m:r>
                        </m:lim>
                      </m:limLow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As a product: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μ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x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∏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M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</m:e>
                      </m:nary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sSub>
                            <m:e>
                              <m:r>
                                <m:t>β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∅</m:t>
                          </m:r>
                        </m:sub>
                      </m:sSub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sSub>
                            <m:e>
                              <m:r>
                                <m:t>β</m:t>
                              </m:r>
                            </m:e>
                            <m:sub>
                              <m:r>
                                <m:t>0</m:t>
                              </m:r>
                            </m:sub>
                          </m:sSub>
                        </m:sup>
                      </m:sSup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Each factor sees only its own variables.</a:t>
                </a:r>
              </a:p>
            </p:txBody>
          </p:sp>
        </mc:Choice>
      </mc:AlternateContent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Fix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, sort the terms by overlap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Evaluate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z</m:t>
                            </m:r>
                          </m:e>
                          <m:sub>
                            <m:r>
                              <m:t>T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m:t>;</m:t>
                        </m:r>
                        <m:r>
                          <m:t> </m:t>
                        </m:r>
                        <m:sSub>
                          <m:e>
                            <m:r>
                              <m:t>x</m:t>
                            </m:r>
                          </m:e>
                          <m:sub>
                            <m:acc>
                              <m:accPr>
                                <m:chr m:val="‾"/>
                              </m:accPr>
                              <m:e>
                                <m:r>
                                  <m:t>T</m:t>
                                </m:r>
                              </m:e>
                            </m:acc>
                          </m:sub>
                        </m:sSub>
                      </m:e>
                    </m:d>
                  </m:oMath>
                </a14:m>
                <a:r>
                  <a:rPr/>
                  <a:t>. A term in </a:t>
                </a:r>
                <a14:m>
                  <m:oMath xmlns:m="http://schemas.openxmlformats.org/officeDocument/2006/math">
                    <m:r>
                      <m:t>Q</m:t>
                    </m:r>
                  </m:oMath>
                </a14:m>
                <a:r>
                  <a:rPr/>
                  <a:t> sees only fixed values; a term in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′</m:t>
                    </m:r>
                  </m:oMath>
                </a14:m>
                <a:r>
                  <a:rPr/>
                  <a:t> sees only the row’s values; a term in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″</m:t>
                    </m:r>
                  </m:oMath>
                </a14:m>
                <a:r>
                  <a:rPr/>
                  <a:t> sees both: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μ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z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;</m:t>
                          </m:r>
                          <m:r>
                            <m:t> 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acc>
                                <m:accPr>
                                  <m:chr m:val="‾"/>
                                </m:accPr>
                                <m:e>
                                  <m:r>
                                    <m:t>T</m:t>
                                  </m:r>
                                </m:e>
                              </m:acc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limLow>
                            <m:e>
                              <m:nary>
                                <m:naryPr>
                                  <m:chr m:val="∏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m:t>∈</m:t>
                                  </m:r>
                                  <m:r>
                                    <m:t>Q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m:t>g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nary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z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Q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z</m:t>
                              </m:r>
                            </m:e>
                          </m:d>
                        </m:lim>
                      </m:limLow>
                      <m:r>
                        <m:t> 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 </m:t>
                      </m:r>
                      <m:limLow>
                        <m:e>
                          <m:limLow>
                            <m:e>
                              <m:nary>
                                <m:naryPr>
                                  <m:chr m:val="∏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m:t>∈</m:t>
                                  </m:r>
                                  <m:r>
                                    <m:t>Q</m:t>
                                  </m:r>
                                  <m:r>
                                    <m:rPr>
                                      <m:sty m:val="p"/>
                                    </m:rPr>
                                    <m:t>′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m:t>g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nary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Q</m:t>
                              </m:r>
                              <m:r>
                                <m:rPr>
                                  <m:sty m:val="p"/>
                                </m:rPr>
                                <m:t>′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x</m:t>
                              </m:r>
                            </m:e>
                          </m:d>
                        </m:lim>
                      </m:limLow>
                      <m:r>
                        <m:t> 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 </m:t>
                      </m:r>
                      <m:limLow>
                        <m:e>
                          <m:limLow>
                            <m:e>
                              <m:nary>
                                <m:naryPr>
                                  <m:chr m:val="∏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m:t>∈</m:t>
                                  </m:r>
                                  <m:r>
                                    <m:t>Q</m:t>
                                  </m:r>
                                  <m:r>
                                    <m:rPr>
                                      <m:sty m:val="p"/>
                                    </m:rPr>
                                    <m:t>″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m:t>g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nary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z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∩</m:t>
                                      </m:r>
                                      <m:r>
                                        <m:t>T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;</m:t>
                                  </m:r>
                                  <m:r>
                                    <m:t> </m:t>
                                  </m:r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\</m:t>
                                      </m:r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sSub>
                            <m:e>
                              <m:r>
                                <m:t>G</m:t>
                              </m:r>
                            </m:e>
                            <m:sub>
                              <m:r>
                                <m:t>Q</m:t>
                              </m:r>
                              <m:r>
                                <m:rPr>
                                  <m:sty m:val="p"/>
                                </m:rPr>
                                <m:t>″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z</m:t>
                              </m:r>
                              <m:r>
                                <m:rPr>
                                  <m:sty m:val="p"/>
                                </m:rPr>
                                <m:t>,</m:t>
                              </m:r>
                              <m:r>
                                <m:t> </m:t>
                              </m:r>
                              <m:r>
                                <m:t>x</m:t>
                              </m:r>
                            </m:e>
                          </m:d>
                        </m:lim>
                      </m:limLow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Only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Q</m:t>
                        </m:r>
                        <m:r>
                          <m:rPr>
                            <m:sty m:val="p"/>
                          </m:rPr>
                          <m:t>″</m:t>
                        </m:r>
                      </m:sub>
                    </m:sSub>
                  </m:oMath>
                </a14:m>
                <a:r>
                  <a:rPr/>
                  <a:t> mixes </a:t>
                </a:r>
                <a14:m>
                  <m:oMath xmlns:m="http://schemas.openxmlformats.org/officeDocument/2006/math">
                    <m:r>
                      <m:t>z</m:t>
                    </m:r>
                  </m:oMath>
                </a14:m>
                <a:r>
                  <a:rPr/>
                  <a:t> and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If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″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∅</m:t>
                    </m:r>
                  </m:oMath>
                </a14:m>
                <a:r>
                  <a:rPr/>
                  <a:t>: average over any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, take the ratio to base, and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Q</m:t>
                        </m:r>
                        <m:r>
                          <m:rPr>
                            <m:sty m:val="p"/>
                          </m:rPr>
                          <m:t>′</m:t>
                        </m:r>
                      </m:sub>
                    </m:sSub>
                  </m:oMath>
                </a14:m>
                <a:r>
                  <a:rPr/>
                  <a:t> cancels —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with it.</a:t>
                </a:r>
              </a:p>
            </p:txBody>
          </p:sp>
        </mc:Choice>
      </mc:AlternateContent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What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″</m:t>
                    </m:r>
                  </m:oMath>
                </a14:m>
                <a:r>
                  <a:rPr/>
                  <a:t> depends on, and how to pin it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t>C</m:t>
                      </m:r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r>
                            <m:rPr>
                              <m:sty m:val="p"/>
                            </m:rPr>
                            <m:t>⋃</m:t>
                          </m:r>
                        </m:e>
                        <m:lim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∈</m:t>
                          </m:r>
                          <m:r>
                            <m:t>Q</m:t>
                          </m:r>
                          <m:r>
                            <m:rPr>
                              <m:sty m:val="p"/>
                            </m:rPr>
                            <m:t>″</m:t>
                          </m:r>
                        </m:lim>
                      </m:limLow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t</m:t>
                          </m:r>
                          <m:r>
                            <m:rPr>
                              <m:sty m:val="p"/>
                            </m:rPr>
                            <m:t>\</m:t>
                          </m:r>
                          <m:r>
                            <m:t>T</m:t>
                          </m:r>
                        </m:e>
                      </m:d>
                      <m:r>
                        <m:t>  </m:t>
                      </m:r>
                      <m:r>
                        <m:rPr>
                          <m:nor/>
                          <m:sty m:val="p"/>
                        </m:rPr>
                        <m:t>the variables </m:t>
                      </m:r>
                      <m:r>
                        <m:t>Q</m:t>
                      </m:r>
                      <m:r>
                        <m:rPr>
                          <m:sty m:val="p"/>
                        </m:rPr>
                        <m:t>″</m:t>
                      </m:r>
                      <m:r>
                        <m:rPr>
                          <m:nor/>
                          <m:sty m:val="p"/>
                        </m:rPr>
                        <m:t> reaches outside </m:t>
                      </m:r>
                      <m:r>
                        <m:t>T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Hold them at base,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C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sSubSup>
                      <m:e>
                        <m:r>
                          <m:t>z</m:t>
                        </m:r>
                      </m:e>
                      <m:sub>
                        <m:r>
                          <m:t>C</m:t>
                        </m:r>
                      </m:sub>
                      <m:sup>
                        <m:r>
                          <m:t>0</m:t>
                        </m:r>
                      </m:sup>
                    </m:sSubSup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μ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z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r>
                            <m:rPr>
                              <m:sty m:val="p"/>
                            </m:rPr>
                            <m:t>;</m:t>
                          </m:r>
                          <m:r>
                            <m:t> </m:t>
                          </m:r>
                          <m:sSubSup>
                            <m:e>
                              <m:r>
                                <m:t>z</m:t>
                              </m:r>
                            </m:e>
                            <m:sub>
                              <m:r>
                                <m:t>C</m:t>
                              </m:r>
                            </m:sub>
                            <m:sup>
                              <m:r>
                                <m:t>0</m:t>
                              </m:r>
                            </m:sup>
                          </m:sSubSup>
                          <m:r>
                            <m:rPr>
                              <m:sty m:val="p"/>
                            </m:rPr>
                            <m:t>;</m:t>
                          </m:r>
                          <m:r>
                            <m:t> </m:t>
                          </m:r>
                          <m:sSub>
                            <m:e>
                              <m:r>
                                <m:t>x</m:t>
                              </m:r>
                            </m:e>
                            <m:sub>
                              <m:bar>
                                <m:barPr>
                                  <m:pos m:val="top"/>
                                </m:barPr>
                                <m:e>
                                  <m: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m:t>∪</m:t>
                                  </m:r>
                                  <m:r>
                                    <m:t>C</m:t>
                                  </m:r>
                                </m:e>
                              </m:ba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limLow>
                        <m:e>
                          <m:limLow>
                            <m:e>
                              <m:nary>
                                <m:naryPr>
                                  <m:chr m:val="∏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m:t>∈</m:t>
                                  </m:r>
                                  <m:r>
                                    <m:t>Q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m:t>g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nary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z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m:t>⋅</m:t>
                              </m:r>
                              <m:nary>
                                <m:naryPr>
                                  <m:chr m:val="∏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m:t>∈</m:t>
                                  </m:r>
                                  <m:r>
                                    <m:t>Q</m:t>
                                  </m:r>
                                  <m:r>
                                    <m:rPr>
                                      <m:sty m:val="p"/>
                                    </m:rPr>
                                    <m:t>″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m:t>g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nary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>
                                    <m:e>
                                      <m:r>
                                        <m:t>z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∩</m:t>
                                      </m:r>
                                      <m:r>
                                        <m:t>T</m:t>
                                      </m:r>
                                    </m:sub>
                                  </m:sSub>
                                  <m:r>
                                    <m:rPr>
                                      <m:sty m:val="p"/>
                                    </m:rPr>
                                    <m:t>;</m:t>
                                  </m:r>
                                  <m:r>
                                    <m:t> </m:t>
                                  </m:r>
                                  <m:sSubSup>
                                    <m:e>
                                      <m:r>
                                        <m:t>z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\</m:t>
                                      </m:r>
                                      <m:r>
                                        <m:t>T</m:t>
                                      </m:r>
                                    </m:sub>
                                    <m:sup>
                                      <m:r>
                                        <m:t>0</m:t>
                                      </m:r>
                                    </m:sup>
                                  </m:sSubSup>
                                </m:e>
                              </m:d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t>z</m:t>
                          </m:r>
                          <m:r>
                            <m:rPr>
                              <m:nor/>
                              <m:sty m:val="p"/>
                            </m:rPr>
                            <m:t> only</m:t>
                          </m:r>
                        </m:lim>
                      </m:limLow>
                      <m:r>
                        <m:t> </m:t>
                      </m:r>
                      <m:r>
                        <m:rPr>
                          <m:sty m:val="p"/>
                        </m:rPr>
                        <m:t>⋅</m:t>
                      </m:r>
                      <m:r>
                        <m:t> </m:t>
                      </m:r>
                      <m:limLow>
                        <m:e>
                          <m:limLow>
                            <m:e>
                              <m:nary>
                                <m:naryPr>
                                  <m:chr m:val="∏"/>
                                  <m:limLoc m:val="undOvr"/>
                                  <m:subHide m:val="off"/>
                                  <m:supHide m:val="on"/>
                                </m:naryPr>
                                <m:sub>
                                  <m: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m:t>∈</m:t>
                                  </m:r>
                                  <m:r>
                                    <m:t>Q</m:t>
                                  </m:r>
                                  <m:r>
                                    <m:rPr>
                                      <m:sty m:val="p"/>
                                    </m:rPr>
                                    <m:t>′</m:t>
                                  </m:r>
                                </m:sub>
                                <m:sup>
                                  <m:r>
                                    <m:t>​</m:t>
                                  </m:r>
                                </m:sup>
                                <m:e>
                                  <m:sSub>
                                    <m:e>
                                      <m:r>
                                        <m:t>g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</m:sub>
                                  </m:sSub>
                                </m:e>
                              </m:nary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sSubSup>
                                    <m:e>
                                      <m:r>
                                        <m:t>z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∩</m:t>
                                      </m:r>
                                      <m:r>
                                        <m:t>C</m:t>
                                      </m:r>
                                    </m:sub>
                                    <m:sup>
                                      <m:r>
                                        <m:t>0</m:t>
                                      </m:r>
                                    </m:sup>
                                  </m:sSubSup>
                                  <m:r>
                                    <m:rPr>
                                      <m:sty m:val="p"/>
                                    </m:rPr>
                                    <m:t>;</m:t>
                                  </m:r>
                                  <m:r>
                                    <m:t> </m:t>
                                  </m:r>
                                  <m:sSub>
                                    <m:e>
                                      <m:r>
                                        <m:t>x</m:t>
                                      </m:r>
                                    </m:e>
                                    <m:sub>
                                      <m:r>
                                        <m:t>t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m:t>\</m:t>
                                      </m:r>
                                      <m:r>
                                        <m:t>C</m:t>
                                      </m:r>
                                    </m:sub>
                                  </m:sSub>
                                </m:e>
                              </m:d>
                            </m:e>
                            <m:lim>
                              <m:r>
                                <m:rPr>
                                  <m:sty m:val="p"/>
                                </m:rPr>
                                <m:t>⏟</m:t>
                              </m:r>
                            </m:lim>
                          </m:limLow>
                        </m:e>
                        <m:lim>
                          <m:r>
                            <m:t>x</m:t>
                          </m:r>
                          <m:r>
                            <m:rPr>
                              <m:nor/>
                              <m:sty m:val="p"/>
                            </m:rPr>
                            <m:t> only</m:t>
                          </m:r>
                        </m:lim>
                      </m:limLow>
                    </m:oMath>
                  </m:oMathPara>
                </a14:m>
              </a:p>
              <a:p>
                <a:pPr lvl="0"/>
                <a:r>
                  <a:rPr/>
                  <a:t>Every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″</m:t>
                    </m:r>
                  </m:oMath>
                </a14:m>
                <a:r>
                  <a:rPr/>
                  <a:t> term is now a function of </a:t>
                </a:r>
                <a14:m>
                  <m:oMath xmlns:m="http://schemas.openxmlformats.org/officeDocument/2006/math">
                    <m:r>
                      <m:t>z</m:t>
                    </m:r>
                  </m:oMath>
                </a14:m>
                <a:r>
                  <a:rPr/>
                  <a:t> alone; under treatment contrasts each equals 1</a:t>
                </a:r>
              </a:p>
              <a:p>
                <a:pPr lvl="0"/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′</m:t>
                    </m:r>
                  </m:oMath>
                </a14:m>
                <a:r>
                  <a:rPr/>
                  <a:t> terms were never functions of </a:t>
                </a:r>
                <a14:m>
                  <m:oMath xmlns:m="http://schemas.openxmlformats.org/officeDocument/2006/math">
                    <m:r>
                      <m:t>z</m:t>
                    </m:r>
                  </m:oMath>
                </a14:m>
                <a:r>
                  <a:rPr/>
                  <a:t>, and still aren’t</a:t>
                </a:r>
              </a:p>
              <a:p>
                <a:pPr lvl="0"/>
                <a:r>
                  <a:rPr/>
                  <a:t>Average over any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, take the ratio to base: the </a:t>
                </a:r>
                <a14:m>
                  <m:oMath xmlns:m="http://schemas.openxmlformats.org/officeDocument/2006/math">
                    <m:r>
                      <m:t>x</m:t>
                    </m:r>
                  </m:oMath>
                </a14:m>
                <a:r>
                  <a:rPr/>
                  <a:t>-only product cancels, and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 is gone</a:t>
                </a:r>
              </a:p>
            </p:txBody>
          </p:sp>
        </mc:Choice>
      </mc:AlternateContent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Example: </a:t>
                </a:r>
                <a14:m>
                  <m:oMath xmlns:m="http://schemas.openxmlformats.org/officeDocument/2006/math">
                    <m:r>
                      <m:t>A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B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C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A</m:t>
                    </m:r>
                    <m:r>
                      <m:t>B</m:t>
                    </m:r>
                  </m:oMath>
                </a14:m>
                <a:r>
                  <a:rPr/>
                  <a:t>, </a:t>
                </a:r>
                <a14:m>
                  <m:oMath xmlns:m="http://schemas.openxmlformats.org/officeDocument/2006/math">
                    <m:r>
                      <m:t>B</m:t>
                    </m:r>
                    <m:r>
                      <m:t>C</m:t>
                    </m:r>
                  </m:oMath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r>
                        <m:rPr>
                          <m:sty m:val="p"/>
                        </m:rPr>
                        <m:t>ln</m:t>
                      </m:r>
                      <m:acc>
                        <m:accPr>
                          <m:chr m:val="̂"/>
                        </m:accPr>
                        <m:e>
                          <m:r>
                            <m:t>μ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c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A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B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C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c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A</m:t>
                          </m:r>
                          <m:r>
                            <m:t>B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b</m:t>
                          </m:r>
                        </m:e>
                      </m:d>
                      <m:r>
                        <m:rPr>
                          <m:sty m:val="p"/>
                        </m:rPr>
                        <m:t>+</m:t>
                      </m:r>
                      <m:sSub>
                        <m:e>
                          <m:r>
                            <m:t>β</m:t>
                          </m:r>
                        </m:e>
                        <m:sub>
                          <m:r>
                            <m:t>B</m:t>
                          </m:r>
                          <m:r>
                            <m:t>C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c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acc>
                        <m:accPr>
                          <m:chr m:val="̂"/>
                        </m:accPr>
                        <m:e>
                          <m:r>
                            <m:t>μ</m:t>
                          </m:r>
                        </m:e>
                      </m:acc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c</m:t>
                          </m:r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m:t>∅</m:t>
                          </m:r>
                        </m:sub>
                      </m:sSub>
                      <m:r>
                        <m:t> 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A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</m:e>
                      </m:d>
                      <m:r>
                        <m:t> 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B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b</m:t>
                          </m:r>
                        </m:e>
                      </m:d>
                      <m:r>
                        <m:t> 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C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c</m:t>
                          </m:r>
                        </m:e>
                      </m:d>
                      <m:r>
                        <m:t> 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A</m:t>
                          </m:r>
                          <m:r>
                            <m:t>B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a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b</m:t>
                          </m:r>
                        </m:e>
                      </m:d>
                      <m:r>
                        <m:t> </m:t>
                      </m:r>
                      <m:sSub>
                        <m:e>
                          <m:r>
                            <m:t>g</m:t>
                          </m:r>
                        </m:e>
                        <m:sub>
                          <m:r>
                            <m:t>B</m:t>
                          </m:r>
                          <m:r>
                            <m:t>C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r>
                            <m:t>b</m:t>
                          </m:r>
                          <m:r>
                            <m:rPr>
                              <m:sty m:val="p"/>
                            </m:rPr>
                            <m:t>,</m:t>
                          </m:r>
                          <m:r>
                            <m:t>c</m:t>
                          </m:r>
                        </m:e>
                      </m:d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Fix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; the variables not in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keep their row values </a:t>
                </a:r>
                <a14:m>
                  <m:oMath xmlns:m="http://schemas.openxmlformats.org/officeDocument/2006/math">
                    <m:sSub>
                      <m:e>
                        <m:r>
                          <m:t>x</m:t>
                        </m:r>
                      </m:e>
                      <m:sub>
                        <m:r>
                          <m:t>A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B</m:t>
                        </m:r>
                      </m:sub>
                    </m:sSub>
                    <m:r>
                      <m:rPr>
                        <m:sty m:val="p"/>
                      </m:rPr>
                      <m:t>,</m:t>
                    </m:r>
                    <m:sSub>
                      <m:e>
                        <m:r>
                          <m:t>x</m:t>
                        </m:r>
                      </m:e>
                      <m:sub>
                        <m:r>
                          <m:t>C</m:t>
                        </m:r>
                      </m:sub>
                    </m:sSub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{</m:t>
                            </m:r>
                            <m:r>
                              <m:t>A</m:t>
                            </m:r>
                            <m:r>
                              <m:rPr>
                                <m:sty m:val="p"/>
                              </m:rPr>
                              <m:t>}</m:t>
                            </m:r>
                            <m:r>
                              <m:rPr>
                                <m:sty m:val="p"/>
                              </m:rPr>
                              <m:t>:</m:t>
                            </m:r>
                            <m:r>
                              <m:t> 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B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C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m:t>∅</m:t>
                                        </m:r>
                                      </m:sub>
                                    </m:sSub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A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a</m:t>
                                        </m:r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</m:lim>
                            </m:limLow>
                            <m:r>
                              <m:rPr>
                                <m:sty m:val="p"/>
                              </m:rPr>
                              <m:t>⋅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B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B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C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C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B</m:t>
                                        </m:r>
                                        <m:r>
                                          <m:t>C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B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C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′</m:t>
                                </m:r>
                              </m:lim>
                            </m:limLow>
                            <m:r>
                              <m:rPr>
                                <m:sty m:val="p"/>
                              </m:rPr>
                              <m:t>⋅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A</m:t>
                                        </m:r>
                                        <m:r>
                                          <m:t>B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a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B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″</m:t>
                                </m:r>
                              </m:lim>
                            </m:limLow>
                          </m:e>
                        </m:mr>
                        <m:mr>
                          <m:e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{</m:t>
                            </m:r>
                            <m:r>
                              <m:t>B</m:t>
                            </m:r>
                            <m:r>
                              <m:rPr>
                                <m:sty m:val="p"/>
                              </m:rPr>
                              <m:t>}</m:t>
                            </m:r>
                            <m:r>
                              <m:rPr>
                                <m:sty m:val="p"/>
                              </m:rPr>
                              <m:t>:</m:t>
                            </m:r>
                            <m:r>
                              <m:t> 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A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C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m:t>∅</m:t>
                                        </m:r>
                                      </m:sub>
                                    </m:sSub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B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b</m:t>
                                        </m:r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</m:lim>
                            </m:limLow>
                            <m:r>
                              <m:rPr>
                                <m:sty m:val="p"/>
                              </m:rPr>
                              <m:t>⋅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A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A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C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C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′</m:t>
                                </m:r>
                              </m:lim>
                            </m:limLow>
                            <m:r>
                              <m:rPr>
                                <m:sty m:val="p"/>
                              </m:rPr>
                              <m:t>⋅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A</m:t>
                                        </m:r>
                                        <m:r>
                                          <m:t>B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A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r>
                                          <m:t>b</m:t>
                                        </m:r>
                                      </m:e>
                                    </m:d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B</m:t>
                                        </m:r>
                                        <m:r>
                                          <m:t>C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b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C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″</m:t>
                                </m:r>
                              </m:lim>
                            </m:limLow>
                          </m:e>
                        </m:mr>
                        <m:mr>
                          <m:e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{</m:t>
                            </m:r>
                            <m:r>
                              <m:t>C</m:t>
                            </m:r>
                            <m:r>
                              <m:rPr>
                                <m:sty m:val="p"/>
                              </m:rPr>
                              <m:t>}</m:t>
                            </m:r>
                            <m:r>
                              <m:rPr>
                                <m:sty m:val="p"/>
                              </m:rPr>
                              <m:t>:</m:t>
                            </m:r>
                            <m:r>
                              <m:t> 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A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B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c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m:t>∅</m:t>
                                        </m:r>
                                      </m:sub>
                                    </m:sSub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C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c</m:t>
                                        </m:r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</m:lim>
                            </m:limLow>
                            <m:r>
                              <m:rPr>
                                <m:sty m:val="p"/>
                              </m:rPr>
                              <m:t>⋅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A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A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B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B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A</m:t>
                                        </m:r>
                                        <m:r>
                                          <m:t>B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A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B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′</m:t>
                                </m:r>
                              </m:lim>
                            </m:limLow>
                            <m:r>
                              <m:rPr>
                                <m:sty m:val="p"/>
                              </m:rPr>
                              <m:t>⋅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B</m:t>
                                        </m:r>
                                        <m:r>
                                          <m:t>C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B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r>
                                          <m:t>c</m:t>
                                        </m:r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″</m:t>
                                </m:r>
                              </m:lim>
                            </m:limLow>
                          </m:e>
                        </m:mr>
                        <m:mr>
                          <m:e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{</m:t>
                            </m:r>
                            <m:r>
                              <m:t>A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B</m:t>
                            </m:r>
                            <m:r>
                              <m:rPr>
                                <m:sty m:val="p"/>
                              </m:rPr>
                              <m:t>}</m:t>
                            </m:r>
                            <m:r>
                              <m:rPr>
                                <m:sty m:val="p"/>
                              </m:rPr>
                              <m:t>:</m:t>
                            </m:r>
                            <m:r>
                              <m:t> 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C</m:t>
                                    </m:r>
                                  </m:sub>
                                </m:sSub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m:t>∅</m:t>
                                        </m:r>
                                      </m:sub>
                                    </m:sSub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A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a</m:t>
                                        </m:r>
                                      </m:e>
                                    </m:d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B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b</m:t>
                                        </m:r>
                                      </m:e>
                                    </m:d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A</m:t>
                                        </m:r>
                                        <m:r>
                                          <m:t>B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a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r>
                                          <m:t>b</m:t>
                                        </m:r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</m:lim>
                            </m:limLow>
                            <m:r>
                              <m:rPr>
                                <m:sty m:val="p"/>
                              </m:rPr>
                              <m:t>⋅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C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C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′</m:t>
                                </m:r>
                              </m:lim>
                            </m:limLow>
                            <m:r>
                              <m:rPr>
                                <m:sty m:val="p"/>
                              </m:rPr>
                              <m:t>⋅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B</m:t>
                                        </m:r>
                                        <m:r>
                                          <m:t>C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b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C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″</m:t>
                                </m:r>
                              </m:lim>
                            </m:limLow>
                          </m:e>
                        </m:mr>
                        <m:mr>
                          <m:e>
                            <m:r>
                              <m:t>T</m:t>
                            </m:r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{</m:t>
                            </m:r>
                            <m:r>
                              <m:t>B</m:t>
                            </m:r>
                            <m:r>
                              <m:rPr>
                                <m:sty m:val="p"/>
                              </m:rPr>
                              <m:t>,</m:t>
                            </m:r>
                            <m:r>
                              <m:t>C</m:t>
                            </m:r>
                            <m:r>
                              <m:rPr>
                                <m:sty m:val="p"/>
                              </m:rPr>
                              <m:t>}</m:t>
                            </m:r>
                            <m:r>
                              <m:rPr>
                                <m:sty m:val="p"/>
                              </m:rPr>
                              <m:t>:</m:t>
                            </m:r>
                            <m:r>
                              <m:t> 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x</m:t>
                                    </m:r>
                                  </m:e>
                                  <m:sub>
                                    <m:r>
                                      <m:t>A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c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rPr>
                                            <m:sty m:val="p"/>
                                          </m:rPr>
                                          <m:t>∅</m:t>
                                        </m:r>
                                      </m:sub>
                                    </m:sSub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B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b</m:t>
                                        </m:r>
                                      </m:e>
                                    </m:d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C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c</m:t>
                                        </m:r>
                                      </m:e>
                                    </m:d>
                                    <m:r>
                                      <m:t> </m:t>
                                    </m:r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B</m:t>
                                        </m:r>
                                        <m:r>
                                          <m:t>C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b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r>
                                          <m:t>c</m:t>
                                        </m:r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</m:lim>
                            </m:limLow>
                            <m:r>
                              <m:rPr>
                                <m:sty m:val="p"/>
                              </m:rPr>
                              <m:t>⋅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A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A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′</m:t>
                                </m:r>
                              </m:lim>
                            </m:limLow>
                            <m:r>
                              <m:rPr>
                                <m:sty m:val="p"/>
                              </m:rPr>
                              <m:t>⋅</m:t>
                            </m:r>
                            <m:limLow>
                              <m:e>
                                <m:limLow>
                                  <m:e>
                                    <m:sSub>
                                      <m:e>
                                        <m:r>
                                          <m:t>g</m:t>
                                        </m:r>
                                      </m:e>
                                      <m:sub>
                                        <m:r>
                                          <m:t>A</m:t>
                                        </m:r>
                                        <m:r>
                                          <m:t>B</m:t>
                                        </m:r>
                                      </m:sub>
                                    </m:sSub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A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r>
                                          <m:t>b</m:t>
                                        </m:r>
                                      </m:e>
                                    </m:d>
                                  </m:e>
                                  <m:lim>
                                    <m:r>
                                      <m:rPr>
                                        <m:sty m:val="p"/>
                                      </m:rPr>
                                      <m:t>⏟</m:t>
                                    </m:r>
                                  </m:lim>
                                </m:limLow>
                              </m:e>
                              <m:lim>
                                <m:r>
                                  <m:t>Q</m:t>
                                </m:r>
                                <m:r>
                                  <m:rPr>
                                    <m:sty m:val="p"/>
                                  </m:rPr>
                                  <m:t>″</m:t>
                                </m:r>
                              </m:lim>
                            </m:limLow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Recovering the coefficients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Pin the variables that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″</m:t>
                    </m:r>
                  </m:oMath>
                </a14:m>
                <a:r>
                  <a:rPr/>
                  <a:t> reaches outside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at base, average over the rest, take the ratio to base. Treatment contrasts throughout.</a:t>
                </a:r>
              </a:p>
              <a:p>
                <a:pPr lvl="0" indent="0" marL="0">
                  <a:buNone/>
                </a:pPr>
                <a:r>
                  <a:rPr/>
                  <a:t>Main effects: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p>
                              <m:e>
                                <m:r>
                                  <m:t>e</m:t>
                                </m:r>
                              </m:e>
                              <m:sup>
                                <m:sSub>
                                  <m:e>
                                    <m:r>
                                      <m:t>β</m:t>
                                    </m:r>
                                  </m:e>
                                  <m:sub>
                                    <m:r>
                                      <m:t>A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a</m:t>
                                    </m:r>
                                  </m:e>
                                </m:d>
                              </m:sup>
                            </m:sSup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sSub>
                                  <m:e>
                                    <m:r>
                                      <m:t>E</m:t>
                                    </m:r>
                                  </m:e>
                                  <m:sub>
                                    <m: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/>
                                  </m:dPr>
                                  <m:e>
                                    <m:acc>
                                      <m:accPr>
                                        <m:chr m:val="̂"/>
                                      </m:accPr>
                                      <m:e>
                                        <m:r>
                                          <m:t>μ</m:t>
                                        </m:r>
                                      </m:e>
                                    </m:acc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r>
                                          <m:t>a</m:t>
                                        </m:r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sSub>
                                          <m:e>
                                            <m:r>
                                              <m:t>b</m:t>
                                            </m:r>
                                          </m:e>
                                          <m:sub>
                                            <m: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C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sSub>
                                  <m:e>
                                    <m:r>
                                      <m:t>E</m:t>
                                    </m:r>
                                  </m:e>
                                  <m:sub>
                                    <m: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/>
                                  </m:dPr>
                                  <m:e>
                                    <m:acc>
                                      <m:accPr>
                                        <m:chr m:val="̂"/>
                                      </m:accPr>
                                      <m:e>
                                        <m:r>
                                          <m:t>μ</m:t>
                                        </m:r>
                                      </m:e>
                                    </m:acc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a</m:t>
                                            </m:r>
                                          </m:e>
                                          <m:sub>
                                            <m: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sSub>
                                          <m:e>
                                            <m:r>
                                              <m:t>b</m:t>
                                            </m:r>
                                          </m:e>
                                          <m:sub>
                                            <m: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C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den>
                            </m:f>
                          </m:e>
                          <m:e/>
                          <m:e>
                            <m:r>
                              <m:rPr>
                                <m:nor/>
                                <m:sty m:val="p"/>
                              </m:rPr>
                              <m:t>pin </m:t>
                            </m:r>
                            <m:r>
                              <m:t>b</m:t>
                            </m:r>
                          </m:e>
                        </m:mr>
                        <m:mr>
                          <m:e>
                            <m:sSup>
                              <m:e>
                                <m:r>
                                  <m:t>e</m:t>
                                </m:r>
                              </m:e>
                              <m:sup>
                                <m:sSub>
                                  <m:e>
                                    <m:r>
                                      <m:t>β</m:t>
                                    </m:r>
                                  </m:e>
                                  <m:sub>
                                    <m:r>
                                      <m:t>B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b</m:t>
                                    </m:r>
                                  </m:e>
                                </m:d>
                              </m:sup>
                            </m:sSup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acc>
                                  <m:accPr>
                                    <m:chr m:val="̂"/>
                                  </m:accPr>
                                  <m:e>
                                    <m:r>
                                      <m:t>μ</m:t>
                                    </m:r>
                                  </m:e>
                                </m:acc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acc>
                                  <m:accPr>
                                    <m:chr m:val="̂"/>
                                  </m:accPr>
                                  <m:e>
                                    <m:r>
                                      <m:t>μ</m:t>
                                    </m:r>
                                  </m:e>
                                </m:acc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</m:e>
                          <m:e/>
                          <m:e>
                            <m:r>
                              <m:rPr>
                                <m:nor/>
                                <m:sty m:val="p"/>
                              </m:rPr>
                              <m:t>pin </m:t>
                            </m:r>
                            <m:r>
                              <m:t>a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 and </m:t>
                            </m:r>
                            <m:r>
                              <m:t>c</m:t>
                            </m:r>
                            <m:r>
                              <m:rPr>
                                <m:nor/>
                                <m:sty m:val="p"/>
                              </m:rPr>
                              <m:t> — nothing left to average</m:t>
                            </m:r>
                          </m:e>
                        </m:mr>
                        <m:mr>
                          <m:e>
                            <m:sSup>
                              <m:e>
                                <m:r>
                                  <m:t>e</m:t>
                                </m:r>
                              </m:e>
                              <m:sup>
                                <m:sSub>
                                  <m:e>
                                    <m:r>
                                      <m:t>β</m:t>
                                    </m:r>
                                  </m:e>
                                  <m:sub>
                                    <m:r>
                                      <m:t>C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c</m:t>
                                    </m:r>
                                  </m:e>
                                </m:d>
                              </m:sup>
                            </m:sSup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sSub>
                                  <m:e>
                                    <m:r>
                                      <m:t>E</m:t>
                                    </m:r>
                                  </m:e>
                                  <m:sub>
                                    <m: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/>
                                  </m:dPr>
                                  <m:e>
                                    <m:acc>
                                      <m:accPr>
                                        <m:chr m:val="̂"/>
                                      </m:accPr>
                                      <m:e>
                                        <m:r>
                                          <m:t>μ</m:t>
                                        </m:r>
                                      </m:e>
                                    </m:acc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A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sSub>
                                          <m:e>
                                            <m:r>
                                              <m:t>b</m:t>
                                            </m:r>
                                          </m:e>
                                          <m:sub>
                                            <m: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r>
                                          <m:t>c</m:t>
                                        </m:r>
                                      </m:e>
                                    </m:d>
                                  </m:e>
                                </m:d>
                              </m:num>
                              <m:den>
                                <m:sSub>
                                  <m:e>
                                    <m:r>
                                      <m:t>E</m:t>
                                    </m:r>
                                  </m:e>
                                  <m:sub>
                                    <m:r>
                                      <m:t>P</m:t>
                                    </m:r>
                                  </m:sub>
                                </m:sSub>
                                <m:d>
                                  <m:dPr>
                                    <m:begChr m:val="["/>
                                    <m:sepChr m:val=""/>
                                    <m:endChr m:val="]"/>
                                    <m:grow/>
                                  </m:dPr>
                                  <m:e>
                                    <m:acc>
                                      <m:accPr>
                                        <m:chr m:val="̂"/>
                                      </m:accPr>
                                      <m:e>
                                        <m:r>
                                          <m:t>μ</m:t>
                                        </m:r>
                                      </m:e>
                                    </m:acc>
                                    <m:d>
                                      <m:dPr>
                                        <m:begChr m:val="("/>
                                        <m:sepChr m:val=""/>
                                        <m:endChr m:val=")"/>
                                        <m:grow/>
                                      </m:dPr>
                                      <m:e>
                                        <m:sSub>
                                          <m:e>
                                            <m:r>
                                              <m:t>x</m:t>
                                            </m:r>
                                          </m:e>
                                          <m:sub>
                                            <m:r>
                                              <m:t>A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sSub>
                                          <m:e>
                                            <m:r>
                                              <m:t>b</m:t>
                                            </m:r>
                                          </m:e>
                                          <m:sub>
                                            <m:r>
                                              <m:t>0</m:t>
                                            </m:r>
                                          </m:sub>
                                        </m:sSub>
                                        <m:r>
                                          <m:rPr>
                                            <m:sty m:val="p"/>
                                          </m:rPr>
                                          <m:t>,</m:t>
                                        </m:r>
                                        <m:sSub>
                                          <m:e>
                                            <m:r>
                                              <m:t>c</m:t>
                                            </m:r>
                                          </m:e>
                                          <m:sub>
                                            <m:r>
                                              <m:t>0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d>
                              </m:den>
                            </m:f>
                          </m:e>
                          <m:e/>
                          <m:e>
                            <m:r>
                              <m:rPr>
                                <m:nor/>
                                <m:sty m:val="p"/>
                              </m:rPr>
                              <m:t>pin </m:t>
                            </m:r>
                            <m:r>
                              <m:t>b</m:t>
                            </m:r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Interactions: the pinned joint table, then the alternating product over its corners: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A</m:t>
                                </m:r>
                                <m:r>
                                  <m:t>B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b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acc>
                                  <m:accPr>
                                    <m:chr m:val="̂"/>
                                  </m:accPr>
                                  <m:e>
                                    <m:r>
                                      <m:t>μ</m:t>
                                    </m:r>
                                  </m:e>
                                </m:acc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a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acc>
                                  <m:accPr>
                                    <m:chr m:val="̂"/>
                                  </m:accPr>
                                  <m:e>
                                    <m:r>
                                      <m:t>μ</m:t>
                                    </m:r>
                                  </m:e>
                                </m:acc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  <m:r>
                              <m:rPr>
                                <m:sty m:val="p"/>
                              </m:rPr>
                              <m:t>,</m:t>
                            </m:r>
                          </m:e>
                          <m:e>
                            <m:sSup>
                              <m:e>
                                <m:r>
                                  <m:t>e</m:t>
                                </m:r>
                              </m:e>
                              <m:sup>
                                <m:sSub>
                                  <m:e>
                                    <m:r>
                                      <m:t>β</m:t>
                                    </m:r>
                                  </m:e>
                                  <m:sub>
                                    <m:r>
                                      <m:t>A</m:t>
                                    </m:r>
                                    <m:r>
                                      <m:t>B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a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b</m:t>
                                    </m:r>
                                  </m:e>
                                </m:d>
                              </m:sup>
                            </m:sSup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sSub>
                                  <m:e>
                                    <m:r>
                                      <m:t>R</m:t>
                                    </m:r>
                                  </m:e>
                                  <m:sub>
                                    <m:r>
                                      <m:t>A</m:t>
                                    </m:r>
                                    <m:r>
                                      <m:t>B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a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b</m:t>
                                    </m:r>
                                  </m:e>
                                </m:d>
                                <m:r>
                                  <m:t> </m:t>
                                </m:r>
                                <m:sSub>
                                  <m:e>
                                    <m:r>
                                      <m:t>R</m:t>
                                    </m:r>
                                  </m:e>
                                  <m:sub>
                                    <m:r>
                                      <m:t>A</m:t>
                                    </m:r>
                                    <m:r>
                                      <m:t>B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e>
                                    <m:r>
                                      <m:t>R</m:t>
                                    </m:r>
                                  </m:e>
                                  <m:sub>
                                    <m:r>
                                      <m:t>A</m:t>
                                    </m:r>
                                    <m:r>
                                      <m:t>B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a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t> </m:t>
                                </m:r>
                                <m:sSub>
                                  <m:e>
                                    <m:r>
                                      <m:t>R</m:t>
                                    </m:r>
                                  </m:e>
                                  <m:sub>
                                    <m:r>
                                      <m:t>A</m:t>
                                    </m:r>
                                    <m:r>
                                      <m:t>B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b</m:t>
                                    </m:r>
                                  </m:e>
                                </m:d>
                              </m:den>
                            </m:f>
                          </m:e>
                          <m:e/>
                          <m:e>
                            <m:r>
                              <m:rPr>
                                <m:nor/>
                                <m:sty m:val="p"/>
                              </m:rPr>
                              <m:t>pin </m:t>
                            </m:r>
                            <m:r>
                              <m:t>c</m:t>
                            </m:r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B</m:t>
                                </m:r>
                                <m:r>
                                  <m:t>C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c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acc>
                                  <m:accPr>
                                    <m:chr m:val="̂"/>
                                  </m:accPr>
                                  <m:e>
                                    <m:r>
                                      <m:t>μ</m:t>
                                    </m:r>
                                  </m:e>
                                </m:acc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c</m:t>
                                    </m:r>
                                  </m:e>
                                </m:d>
                              </m:num>
                              <m:den>
                                <m:acc>
                                  <m:accPr>
                                    <m:chr m:val="̂"/>
                                  </m:accPr>
                                  <m:e>
                                    <m:r>
                                      <m:t>μ</m:t>
                                    </m:r>
                                  </m:e>
                                </m:acc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den>
                            </m:f>
                            <m:r>
                              <m:rPr>
                                <m:sty m:val="p"/>
                              </m:rPr>
                              <m:t>,</m:t>
                            </m:r>
                          </m:e>
                          <m:e>
                            <m:sSup>
                              <m:e>
                                <m:r>
                                  <m:t>e</m:t>
                                </m:r>
                              </m:e>
                              <m:sup>
                                <m:sSub>
                                  <m:e>
                                    <m:r>
                                      <m:t>β</m:t>
                                    </m:r>
                                  </m:e>
                                  <m:sub>
                                    <m:r>
                                      <m:t>B</m:t>
                                    </m:r>
                                    <m:r>
                                      <m:t>C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c</m:t>
                                    </m:r>
                                  </m:e>
                                </m:d>
                              </m:sup>
                            </m:sSup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f>
                              <m:fPr>
                                <m:type m:val="bar"/>
                              </m:fPr>
                              <m:num>
                                <m:sSub>
                                  <m:e>
                                    <m:r>
                                      <m:t>R</m:t>
                                    </m:r>
                                  </m:e>
                                  <m:sub>
                                    <m:r>
                                      <m:t>B</m:t>
                                    </m:r>
                                    <m:r>
                                      <m:t>C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c</m:t>
                                    </m:r>
                                  </m:e>
                                </m:d>
                                <m:r>
                                  <m:t> </m:t>
                                </m:r>
                                <m:sSub>
                                  <m:e>
                                    <m:r>
                                      <m:t>R</m:t>
                                    </m:r>
                                  </m:e>
                                  <m:sub>
                                    <m:r>
                                      <m:t>B</m:t>
                                    </m:r>
                                    <m:r>
                                      <m:t>C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num>
                              <m:den>
                                <m:sSub>
                                  <m:e>
                                    <m:r>
                                      <m:t>R</m:t>
                                    </m:r>
                                  </m:e>
                                  <m:sub>
                                    <m:r>
                                      <m:t>B</m:t>
                                    </m:r>
                                    <m:r>
                                      <m:t>C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b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  <m:r>
                                  <m:t> </m:t>
                                </m:r>
                                <m:sSub>
                                  <m:e>
                                    <m:r>
                                      <m:t>R</m:t>
                                    </m:r>
                                  </m:e>
                                  <m:sub>
                                    <m:r>
                                      <m:t>B</m:t>
                                    </m:r>
                                    <m:r>
                                      <m:t>C</m:t>
                                    </m:r>
                                  </m:sub>
                                </m:sSub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c</m:t>
                                    </m:r>
                                  </m:e>
                                </m:d>
                              </m:den>
                            </m:f>
                          </m:e>
                          <m:e/>
                          <m:e>
                            <m:r>
                              <m:rPr>
                                <m:nor/>
                                <m:sty m:val="p"/>
                              </m:rPr>
                              <m:t>pin </m:t>
                            </m:r>
                            <m:r>
                              <m:t>a</m:t>
                            </m:r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same, on the log scale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Main effects: one plus, one minus.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β</m:t>
                                </m:r>
                              </m:e>
                              <m:sub>
                                <m:r>
                                  <m:t>A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a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sSub>
                              <m:e>
                                <m:r>
                                  <m:t>E</m:t>
                                </m:r>
                              </m:e>
                              <m:sub>
                                <m:r>
                                  <m:t>P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</m:dPr>
                              <m:e>
                                <m:acc>
                                  <m:accPr>
                                    <m:chr m:val="̂"/>
                                  </m:accPr>
                                  <m:e>
                                    <m:r>
                                      <m:t>μ</m:t>
                                    </m:r>
                                  </m:e>
                                </m:acc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r>
                                      <m:t>a</m:t>
                                    </m:r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t>C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sSub>
                              <m:e>
                                <m:r>
                                  <m:t>E</m:t>
                                </m:r>
                              </m:e>
                              <m:sub>
                                <m:r>
                                  <m:t>P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</m:dPr>
                              <m:e>
                                <m:acc>
                                  <m:accPr>
                                    <m:chr m:val="̂"/>
                                  </m:accPr>
                                  <m:e>
                                    <m:r>
                                      <m:t>μ</m:t>
                                    </m:r>
                                  </m:e>
                                </m:acc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a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t>C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β</m:t>
                                </m:r>
                              </m:e>
                              <m:sub>
                                <m:r>
                                  <m:t>B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b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β</m:t>
                                </m:r>
                              </m:e>
                              <m:sub>
                                <m:r>
                                  <m:t>C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c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sSub>
                              <m:e>
                                <m:r>
                                  <m:t>E</m:t>
                                </m:r>
                              </m:e>
                              <m:sub>
                                <m:r>
                                  <m:t>P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</m:dPr>
                              <m:e>
                                <m:acc>
                                  <m:accPr>
                                    <m:chr m:val="̂"/>
                                  </m:accPr>
                                  <m:e>
                                    <m:r>
                                      <m:t>μ</m:t>
                                    </m:r>
                                  </m:e>
                                </m:acc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t>A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r>
                                      <m:t>c</m:t>
                                    </m:r>
                                  </m:e>
                                </m:d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sSub>
                              <m:e>
                                <m:r>
                                  <m:t>E</m:t>
                                </m:r>
                              </m:e>
                              <m:sub>
                                <m:r>
                                  <m:t>P</m:t>
                                </m:r>
                              </m:sub>
                            </m:sSub>
                            <m:d>
                              <m:dPr>
                                <m:begChr m:val="["/>
                                <m:sepChr m:val=""/>
                                <m:endChr m:val="]"/>
                                <m:grow/>
                              </m:dPr>
                              <m:e>
                                <m:acc>
                                  <m:accPr>
                                    <m:chr m:val="̂"/>
                                  </m:accPr>
                                  <m:e>
                                    <m:r>
                                      <m:t>μ</m:t>
                                    </m:r>
                                  </m:e>
                                </m:acc>
                                <m:d>
                                  <m:dPr>
                                    <m:begChr m:val="("/>
                                    <m:sepChr m:val=""/>
                                    <m:endChr m:val=")"/>
                                    <m:grow/>
                                  </m:dPr>
                                  <m:e>
                                    <m:sSub>
                                      <m:e>
                                        <m:r>
                                          <m:t>x</m:t>
                                        </m:r>
                                      </m:e>
                                      <m:sub>
                                        <m:r>
                                          <m:t>A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b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  <m:r>
                                      <m:rPr>
                                        <m:sty m:val="p"/>
                                      </m:rPr>
                                      <m:t>,</m:t>
                                    </m:r>
                                    <m:sSub>
                                      <m:e>
                                        <m:r>
                                          <m:t>c</m:t>
                                        </m:r>
                                      </m:e>
                                      <m:sub>
                                        <m:r>
                                          <m:t>0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Interactions: sign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</m:dPr>
                          <m:e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t>1</m:t>
                            </m:r>
                          </m:e>
                        </m:d>
                      </m:e>
                      <m:sup>
                        <m:r>
                          <m:rPr>
                            <m:nor/>
                            <m:sty m:val="p"/>
                          </m:rPr>
                          <m:t>number of coordinates at base</m:t>
                        </m:r>
                      </m:sup>
                    </m:sSup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m>
                        <m:mPr>
                          <m:baseJc m:val="center"/>
                          <m:plcHide m:val="on"/>
                          <m:mcs>
                            <m:mc>
                              <m:mcPr>
                                <m:mcJc m:val="right"/>
                                <m:count m:val="1"/>
                              </m:mcPr>
                            </m:mc>
                            <m:mc>
                              <m:mcPr>
                                <m:mcJc m:val="left"/>
                                <m:count m:val="1"/>
                              </m:mcPr>
                            </m:mc>
                          </m:mcs>
                        </m:mPr>
                        <m:mr>
                          <m:e>
                            <m:sSub>
                              <m:e>
                                <m:r>
                                  <m:t>β</m:t>
                                </m:r>
                              </m:e>
                              <m:sub>
                                <m:r>
                                  <m:t>A</m:t>
                                </m:r>
                                <m:r>
                                  <m:t>B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b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A</m:t>
                                </m:r>
                                <m:r>
                                  <m:t>B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b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A</m:t>
                                </m:r>
                                <m:r>
                                  <m:t>B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A</m:t>
                                </m:r>
                                <m:r>
                                  <m:t>B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b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A</m:t>
                                </m:r>
                                <m:r>
                                  <m:t>B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a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>
                            <m:sSub>
                              <m:e>
                                <m:r>
                                  <m:t>β</m:t>
                                </m:r>
                              </m:e>
                              <m:sub>
                                <m:r>
                                  <m:t>B</m:t>
                                </m:r>
                                <m:r>
                                  <m:t>C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c</m:t>
                                </m:r>
                              </m:e>
                            </m:d>
                          </m:e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B</m:t>
                                </m:r>
                                <m:r>
                                  <m:t>C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c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B</m:t>
                                </m:r>
                                <m:r>
                                  <m:t>C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B</m:t>
                                </m:r>
                                <m:r>
                                  <m:t>C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c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sSub>
                              <m:e>
                                <m:r>
                                  <m:t>R</m:t>
                                </m:r>
                              </m:e>
                              <m:sub>
                                <m:r>
                                  <m:t>B</m:t>
                                </m:r>
                                <m:r>
                                  <m:t>C</m:t>
                                </m:r>
                              </m:sub>
                            </m:sSub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  <m:mr>
                          <m:e/>
                          <m:e>
                            <m:r>
                              <m:rPr>
                                <m:sty m:val="p"/>
                              </m:rPr>
                              <m:t>=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c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b</m:t>
                                </m:r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  <m:r>
                              <m:rPr>
                                <m:sty m:val="p"/>
                              </m:rPr>
                              <m:t>−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r>
                                  <m:t>c</m:t>
                                </m:r>
                              </m:e>
                            </m:d>
                            <m:r>
                              <m:rPr>
                                <m:sty m:val="p"/>
                              </m:rPr>
                              <m:t>+</m:t>
                            </m:r>
                            <m:r>
                              <m:rPr>
                                <m:sty m:val="p"/>
                              </m:rPr>
                              <m:t>ln</m:t>
                            </m:r>
                            <m:acc>
                              <m:accPr>
                                <m:chr m:val="̂"/>
                              </m:accPr>
                              <m:e>
                                <m:r>
                                  <m:t>μ</m:t>
                                </m:r>
                              </m:e>
                            </m:acc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</m:dPr>
                              <m:e>
                                <m:sSub>
                                  <m:e>
                                    <m:r>
                                      <m:t>a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b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  <m:r>
                                  <m:rPr>
                                    <m:sty m:val="p"/>
                                  </m:rPr>
                                  <m:t>,</m:t>
                                </m:r>
                                <m:sSub>
                                  <m:e>
                                    <m:r>
                                      <m:t>c</m:t>
                                    </m:r>
                                  </m:e>
                                  <m:sub>
                                    <m:r>
                                      <m:t>0</m:t>
                                    </m:r>
                                  </m:sub>
                                </m:sSub>
                              </m:e>
                            </m:d>
                          </m:e>
                        </m:mr>
                      </m:m>
                    </m:oMath>
                  </m:oMathPara>
                </a14:m>
              </a:p>
            </p:txBody>
          </p:sp>
        </mc:Choice>
      </mc:AlternateContent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a GLM with treatment contrasts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The fit has done all of it.</a:t>
                </a:r>
              </a:p>
              <a:p>
                <a:pPr lvl="0" indent="0" marL="0">
                  <a:buNone/>
                </a:pPr>
                <a:r>
                  <a:rPr/>
                  <a:t>Treatment coding makes </a:t>
                </a:r>
                <a14:m>
                  <m:oMath xmlns:m="http://schemas.openxmlformats.org/officeDocument/2006/math">
                    <m:sSub>
                      <m:e>
                        <m:r>
                          <m:t>g</m:t>
                        </m:r>
                      </m:e>
                      <m:sub>
                        <m:r>
                          <m:t>t</m:t>
                        </m:r>
                      </m:sub>
                    </m:sSub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 whenever any coordinate of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is at base. So at the base cell every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″</m:t>
                    </m:r>
                  </m:oMath>
                </a14:m>
                <a:r>
                  <a:rPr/>
                  <a:t> term is already 1, for every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, and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table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z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sSup>
                        <m:e>
                          <m:r>
                            <m:t>e</m:t>
                          </m:r>
                        </m:e>
                        <m:sup>
                          <m:sSub>
                            <m:e>
                              <m:r>
                                <m:t>β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sSub>
                                <m:e>
                                  <m:r>
                                    <m:t>z</m:t>
                                  </m:r>
                                </m:e>
                                <m:sub>
                                  <m:r>
                                    <m:t>t</m:t>
                                  </m:r>
                                </m:sub>
                              </m:sSub>
                            </m:e>
                          </m:d>
                        </m:sup>
                      </m:sSup>
                      <m:r>
                        <m:t>  </m:t>
                      </m:r>
                      <m:r>
                        <m:rPr>
                          <m:nor/>
                          <m:sty m:val="p"/>
                        </m:rPr>
                        <m:t>for every </m:t>
                      </m:r>
                      <m:r>
                        <m:t>t</m:t>
                      </m:r>
                      <m:r>
                        <m:rPr>
                          <m:sty m:val="p"/>
                        </m:rPr>
                        <m:t>∈</m:t>
                      </m:r>
                      <m:r>
                        <m:t>M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:r>
                  <a:rPr/>
                  <a:t>Read the tables off the coefficients. No data, no averaging, no choice of </a:t>
                </a:r>
                <a14:m>
                  <m:oMath xmlns:m="http://schemas.openxmlformats.org/officeDocument/2006/math">
                    <m:r>
                      <m:t>P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What the lemma adds:</a:t>
                </a:r>
              </a:p>
              <a:p>
                <a:pPr lvl="0"/>
                <a:r>
                  <a:rPr/>
                  <a:t>The same tables come back from the recipe on the next slide applied to </a:t>
                </a:r>
                <a:r>
                  <a:rPr>
                    <a:latin typeface="Courier"/>
                  </a:rPr>
                  <a:t>predict()</a:t>
                </a:r>
                <a:r>
                  <a:rPr/>
                  <a:t>. The coefficients </a:t>
                </a:r>
                <a:r>
                  <a:rPr i="1"/>
                  <a:t>are</a:t>
                </a:r>
                <a:r>
                  <a:rPr/>
                  <a:t> that recipe, done in advance by the parameterization.</a:t>
                </a:r>
              </a:p>
              <a:p>
                <a:pPr lvl="0"/>
                <a:r>
                  <a:rPr/>
                  <a:t>A partial-dependence table for a variable agrees with </a:t>
                </a:r>
                <a14:m>
                  <m:oMath xmlns:m="http://schemas.openxmlformats.org/officeDocument/2006/math">
                    <m:sSup>
                      <m:e>
                        <m:r>
                          <m:t>e</m:t>
                        </m:r>
                      </m:e>
                      <m:sup>
                        <m:r>
                          <m:t>β</m:t>
                        </m:r>
                      </m:sup>
                    </m:sSup>
                  </m:oMath>
                </a14:m>
                <a:r>
                  <a:rPr/>
                  <a:t> only when the variable sits in no interaction (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″</m:t>
                    </m:r>
                    <m:r>
                      <m:rPr>
                        <m:sty m:val="p"/>
                      </m:rPr>
                      <m:t>=</m:t>
                    </m:r>
                    <m:r>
                      <m:rPr>
                        <m:sty m:val="p"/>
                      </m:rPr>
                      <m:t>∅</m:t>
                    </m:r>
                  </m:oMath>
                </a14:m>
                <a:r>
                  <a:rPr/>
                  <a:t>). Otherwise the two differ, on the training data too, and the coefficient is the rating table.</a:t>
                </a:r>
              </a:p>
              <a:p>
                <a:pPr lvl="0"/>
                <a:r>
                  <a:rPr/>
                  <a:t>Other contrasts (sum-to-zero, Helmert) give the same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μ</m:t>
                        </m:r>
                      </m:e>
                    </m:acc>
                  </m:oMath>
                </a14:m>
                <a:r>
                  <a:rPr/>
                  <a:t> in other coordinates. Refit with treatment contrasts, or use the recipe.</a:t>
                </a:r>
              </a:p>
            </p:txBody>
          </p:sp>
        </mc:Choice>
      </mc:AlternateContent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a GAM, a penalized fit, random effects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Same term list, but the fit chose the gauge.</a:t>
                </a:r>
              </a:p>
              <a:p>
                <a:pPr lvl="0" indent="0" marL="0">
                  <a:buNone/>
                </a:pPr>
                <a:r>
                  <a:rPr>
                    <a:latin typeface="Courier"/>
                  </a:rPr>
                  <a:t>s(age) + s(weight) + ti(age, weight) + s(breed, bs = "re")</a:t>
                </a:r>
                <a:r>
                  <a:rPr/>
                  <a:t> has a term list </a:t>
                </a:r>
                <a14:m>
                  <m:oMath xmlns:m="http://schemas.openxmlformats.org/officeDocument/2006/math">
                    <m:r>
                      <m:t>M</m:t>
                    </m:r>
                  </m:oMath>
                </a14:m>
                <a:r>
                  <a:rPr/>
                  <a:t>. But the smooths are centered on the training data, </a:t>
                </a:r>
                <a:r>
                  <a:rPr>
                    <a:latin typeface="Courier"/>
                  </a:rPr>
                  <a:t>ti()</a:t>
                </a:r>
                <a:r>
                  <a:rPr/>
                  <a:t> is centered on the training data, random effects are centered at zero. Nothing is 1 at a base level, and </a:t>
                </a:r>
                <a:r>
                  <a:rPr>
                    <a:latin typeface="Courier"/>
                  </a:rPr>
                  <a:t>predict(type = "terms")</a:t>
                </a:r>
                <a:r>
                  <a:rPr/>
                  <a:t> returns these centered pieces: for a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with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″</m:t>
                    </m:r>
                    <m:r>
                      <m:rPr>
                        <m:sty m:val="p"/>
                      </m:rPr>
                      <m:t>≠</m:t>
                    </m:r>
                    <m:r>
                      <m:rPr>
                        <m:sty m:val="p"/>
                      </m:rPr>
                      <m:t>∅</m:t>
                    </m:r>
                  </m:oMath>
                </a14:m>
                <a:r>
                  <a:rPr/>
                  <a:t> (age, because of </a:t>
                </a:r>
                <a:r>
                  <a:rPr>
                    <a:latin typeface="Courier"/>
                  </a:rPr>
                  <a:t>ti(age, weight)</a:t>
                </a:r>
                <a:r>
                  <a:rPr/>
                  <a:t>) the centered main effect carries a training-book average of the interaction.</a:t>
                </a:r>
              </a:p>
              <a:p>
                <a:pPr lvl="0" indent="0" marL="0">
                  <a:buNone/>
                </a:pPr>
                <a:r>
                  <a:rPr/>
                  <a:t>Recipe — only </a:t>
                </a:r>
                <a:r>
                  <a:rPr>
                    <a:latin typeface="Courier"/>
                  </a:rPr>
                  <a:t>predict()</a:t>
                </a:r>
                <a:r>
                  <a:rPr/>
                  <a:t>, never the coefficients: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Choose a base cell </a:t>
                </a:r>
                <a14:m>
                  <m:oMath xmlns:m="http://schemas.openxmlformats.org/officeDocument/2006/math">
                    <m:sSup>
                      <m:e>
                        <m:r>
                          <m:t>z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  <a:r>
                  <a:rPr/>
                  <a:t>: a well-populated level of each variable. Random effects have no reference level, so this choice is yours.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For each </a:t>
                </a:r>
                <a14:m>
                  <m:oMath xmlns:m="http://schemas.openxmlformats.org/officeDocument/2006/math">
                    <m:r>
                      <m:t>t</m:t>
                    </m:r>
                    <m:r>
                      <m:rPr>
                        <m:sty m:val="p"/>
                      </m:rPr>
                      <m:t>∈</m:t>
                    </m:r>
                    <m:r>
                      <m:t>M</m:t>
                    </m:r>
                  </m:oMath>
                </a14:m>
                <a:r>
                  <a:rPr/>
                  <a:t>, hold everything outside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 at base, vary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’s variables, and take the alternating product over the corners of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/>
                  <a:t>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table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z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∏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u</m:t>
                          </m:r>
                          <m:r>
                            <m:rPr>
                              <m:sty m:val="p"/>
                            </m:rPr>
                            <m:t>⊆</m:t>
                          </m:r>
                          <m:r>
                            <m:t>t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μ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sSup>
                        <m:e>
                          <m:r>
                            <m:t>z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u</m:t>
                              </m:r>
                            </m:e>
                          </m:d>
                        </m:sup>
                      </m:sSup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1</m:t>
                                  </m:r>
                                </m:e>
                              </m:d>
                            </m:e>
                            <m:sup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/>
                                </m:dPr>
                                <m:e>
                                  <m: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m:t>\</m:t>
                                  </m:r>
                                  <m:r>
                                    <m:t>u</m:t>
                                  </m:r>
                                </m:e>
                              </m:d>
                            </m:sup>
                          </m:sSup>
                        </m:sup>
                      </m:sSup>
                      <m:r>
                        <m:rPr>
                          <m:sty m:val="p"/>
                        </m:rPr>
                        <m:t>,</m:t>
                      </m:r>
                      <m:r>
                        <m:t>  </m:t>
                      </m:r>
                      <m:sSup>
                        <m:e>
                          <m:r>
                            <m:t>z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u</m:t>
                              </m:r>
                            </m:e>
                          </m:d>
                        </m:sup>
                      </m:sSup>
                      <m:r>
                        <m:rPr>
                          <m:sty m:val="p"/>
                        </m:rPr>
                        <m:t>=</m:t>
                      </m:r>
                      <m:r>
                        <m:rPr>
                          <m:nor/>
                          <m:sty m:val="p"/>
                        </m:rPr>
                        <m:t>the base cell with the variables in </m:t>
                      </m:r>
                      <m:r>
                        <m:t>u</m:t>
                      </m:r>
                      <m:r>
                        <m:rPr>
                          <m:nor/>
                          <m:sty m:val="p"/>
                        </m:rPr>
                        <m:t> moved to </m:t>
                      </m:r>
                      <m:r>
                        <m:t>z</m:t>
                      </m:r>
                    </m:oMath>
                  </m:oMathPara>
                </a14:m>
              </a:p>
              <a:p>
                <a:pPr lvl="0" indent="0" marL="0">
                  <a:buNone/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</m:dPr>
                      <m:e>
                        <m: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1</m:t>
                    </m:r>
                  </m:oMath>
                </a14:m>
                <a:r>
                  <a:rPr/>
                  <a:t>: a ratio.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</m:dPr>
                      <m:e>
                        <m:r>
                          <m:t>t</m:t>
                        </m:r>
                      </m:e>
                    </m:d>
                    <m:r>
                      <m:rPr>
                        <m:sty m:val="p"/>
                      </m:rPr>
                      <m:t>=</m:t>
                    </m:r>
                    <m:r>
                      <m:t>2</m:t>
                    </m:r>
                  </m:oMath>
                </a14:m>
                <a:r>
                  <a:rPr/>
                  <a:t>: the double ratio of slide 7. A smooth gives a curve: evaluate on a grid of </a:t>
                </a:r>
                <a14:m>
                  <m:oMath xmlns:m="http://schemas.openxmlformats.org/officeDocument/2006/math">
                    <m:r>
                      <m:t>z</m:t>
                    </m:r>
                  </m:oMath>
                </a14:m>
                <a:r>
                  <a:rPr/>
                  <a:t>.</a:t>
                </a:r>
              </a:p>
              <a:p>
                <a:pPr lvl="0" indent="0" marL="0">
                  <a:buNone/>
                </a:pPr>
                <a:r>
                  <a:rPr/>
                  <a:t>Upstream of the table: a penalty is not invariant to reparameterization, so the fit’s gauge also shapes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μ</m:t>
                        </m:r>
                      </m:e>
                    </m:acc>
                  </m:oMath>
                </a14:m>
                <a:r>
                  <a:rPr/>
                  <a:t> itself. That is a modeling choice; the recipe takes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μ</m:t>
                        </m:r>
                      </m:e>
                    </m:acc>
                  </m:oMath>
                </a14:m>
                <a:r>
                  <a:rPr/>
                  <a:t> as given.</a:t>
                </a:r>
              </a:p>
            </p:txBody>
          </p:sp>
        </mc:Choice>
      </mc:AlternateContent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From a black box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 b="1"/>
                  <a:t>No term list. Assume every </a:t>
                </a:r>
                <a14:m>
                  <m:oMath xmlns:m="http://schemas.openxmlformats.org/officeDocument/2006/math">
                    <m:r>
                      <m:t>Q</m:t>
                    </m:r>
                    <m:r>
                      <m:rPr>
                        <m:sty m:val="p"/>
                      </m:rPr>
                      <m:t>″</m:t>
                    </m:r>
                  </m:oMath>
                </a14:m>
                <a:r>
                  <a:rPr b="1"/>
                  <a:t> reaches every variable outside </a:t>
                </a:r>
                <a14:m>
                  <m:oMath xmlns:m="http://schemas.openxmlformats.org/officeDocument/2006/math">
                    <m:r>
                      <m:t>T</m:t>
                    </m:r>
                  </m:oMath>
                </a14:m>
                <a:r>
                  <a:rPr b="1"/>
                  <a:t>.</a:t>
                </a:r>
              </a:p>
              <a:p>
                <a:pPr lvl="0" indent="0" marL="0">
                  <a:buNone/>
                </a:pPr>
                <a:r>
                  <a:rPr/>
                  <a:t>Then the lemma says: no averaged table is mix-free. Partial dependence, ALE, model one-ways all move with the book, for every variable. The only mix-free object is the profile through the base cell.</a:t>
                </a:r>
              </a:p>
              <a:p>
                <a:pPr lvl="0" indent="0" marL="0">
                  <a:buNone/>
                </a:pPr>
                <a:r>
                  <a:rPr/>
                  <a:t>Recipe — the same formula, with nothing optional about the pinning: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Choose the base cell </a:t>
                </a:r>
                <a14:m>
                  <m:oMath xmlns:m="http://schemas.openxmlformats.org/officeDocument/2006/math">
                    <m:sSup>
                      <m:e>
                        <m:r>
                          <m:t>z</m:t>
                        </m:r>
                      </m:e>
                      <m:sup>
                        <m:r>
                          <m:t>0</m:t>
                        </m:r>
                      </m:sup>
                    </m:sSup>
                  </m:oMath>
                </a14:m>
                <a:r>
                  <a:rPr/>
                  <a:t> deliberately. Every table depends on where every other variable sits, so use a well-populated cell and report it with the tables.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Choose which tables the rating plan carries: main effects and the pairs you want.</a:t>
                </a:r>
              </a:p>
              <a:p>
                <a:pPr lvl="0" indent="-342900" marL="342900">
                  <a:buAutoNum type="arabicPeriod"/>
                </a:pPr>
                <a:r>
                  <a:rPr/>
                  <a:t>For each:</a:t>
                </a:r>
              </a:p>
              <a:p>
                <a:pPr lvl="0" indent="0" marL="0">
                  <a:buNone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m:rPr>
                              <m:nor/>
                              <m:sty m:val="p"/>
                            </m:rPr>
                            <m:t>table</m:t>
                          </m:r>
                        </m:e>
                        <m:sub>
                          <m:r>
                            <m:t>t</m:t>
                          </m:r>
                        </m:sub>
                      </m:sSub>
                      <m:d>
                        <m:dPr>
                          <m:begChr m:val="("/>
                          <m:sepChr m:val=""/>
                          <m:endChr m:val=")"/>
                          <m:grow/>
                        </m:dPr>
                        <m:e>
                          <m:sSub>
                            <m:e>
                              <m:r>
                                <m:t>z</m:t>
                              </m:r>
                            </m:e>
                            <m:sub>
                              <m:r>
                                <m:t>t</m:t>
                              </m:r>
                            </m:sub>
                          </m:sSub>
                        </m:e>
                      </m:d>
                      <m:r>
                        <m:rPr>
                          <m:sty m:val="p"/>
                        </m:rPr>
                        <m:t>=</m:t>
                      </m:r>
                      <m:nary>
                        <m:naryPr>
                          <m:chr m:val="∏"/>
                          <m:limLoc m:val="undOvr"/>
                          <m:subHide m:val="off"/>
                          <m:supHide m:val="on"/>
                        </m:naryPr>
                        <m:sub>
                          <m:r>
                            <m:t>u</m:t>
                          </m:r>
                          <m:r>
                            <m:rPr>
                              <m:sty m:val="p"/>
                            </m:rPr>
                            <m:t>⊆</m:t>
                          </m:r>
                          <m:r>
                            <m:t>t</m:t>
                          </m:r>
                        </m:sub>
                        <m:sup>
                          <m:r>
                            <m:t>​</m:t>
                          </m:r>
                        </m:sup>
                        <m:e>
                          <m:acc>
                            <m:accPr>
                              <m:chr m:val="̂"/>
                            </m:accPr>
                            <m:e>
                              <m:r>
                                <m:t>μ</m:t>
                              </m:r>
                            </m:e>
                          </m:acc>
                        </m:e>
                      </m:nary>
                      <m:r>
                        <m:rPr>
                          <m:sty m:val="p"/>
                        </m:rPr>
                        <m:t>(</m:t>
                      </m:r>
                      <m:sSup>
                        <m:e>
                          <m:r>
                            <m:t>z</m:t>
                          </m:r>
                        </m:e>
                        <m:sup>
                          <m:d>
                            <m:dPr>
                              <m:begChr m:val="("/>
                              <m:sepChr m:val=""/>
                              <m:endChr m:val=")"/>
                              <m:grow/>
                            </m:dPr>
                            <m:e>
                              <m:r>
                                <m:t>u</m:t>
                              </m:r>
                            </m:e>
                          </m:d>
                        </m:sup>
                      </m:sSup>
                      <m:sSup>
                        <m:e>
                          <m:r>
                            <m:rPr>
                              <m:sty m:val="p"/>
                            </m:rPr>
                            <m:t>)</m:t>
                          </m:r>
                        </m:e>
                        <m:sup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/>
                                </m:dPr>
                                <m:e>
                                  <m:r>
                                    <m:rPr>
                                      <m:sty m:val="p"/>
                                    </m:rPr>
                                    <m:t>−</m:t>
                                  </m:r>
                                  <m:r>
                                    <m:t>1</m:t>
                                  </m:r>
                                </m:e>
                              </m:d>
                            </m:e>
                            <m:sup>
                              <m:d>
                                <m:dPr>
                                  <m:begChr m:val="|"/>
                                  <m:sepChr m:val=""/>
                                  <m:endChr m:val="|"/>
                                  <m:grow/>
                                </m:dPr>
                                <m:e>
                                  <m:r>
                                    <m:t>t</m:t>
                                  </m:r>
                                  <m:r>
                                    <m:rPr>
                                      <m:sty m:val="p"/>
                                    </m:rPr>
                                    <m:t>\</m:t>
                                  </m:r>
                                  <m:r>
                                    <m:t>u</m:t>
                                  </m:r>
                                </m:e>
                              </m:d>
                            </m:sup>
                          </m:sSup>
                        </m:sup>
                      </m:sSup>
                    </m:oMath>
                  </m:oMathPara>
                </a14:m>
              </a:p>
              <a:p>
                <a:pPr lvl="0" indent="-342900" marL="342900">
                  <a:buAutoNum startAt="4" type="arabicPeriod"/>
                </a:pPr>
                <a:r>
                  <a:rPr/>
                  <a:t>Check the truncation. With all </a:t>
                </a:r>
                <a14:m>
                  <m:oMath xmlns:m="http://schemas.openxmlformats.org/officeDocument/2006/math">
                    <m:sSup>
                      <m:e>
                        <m:r>
                          <m:t>2</m:t>
                        </m:r>
                      </m:e>
                      <m:sup>
                        <m:d>
                          <m:dPr>
                            <m:begChr m:val="|"/>
                            <m:sepChr m:val=""/>
                            <m:endChr m:val="|"/>
                            <m:grow/>
                          </m:dPr>
                          <m:e>
                            <m:r>
                              <m:t>V</m:t>
                            </m:r>
                          </m:e>
                        </m:d>
                      </m:sup>
                    </m:sSup>
                  </m:oMath>
                </a14:m>
                <a:r>
                  <a:rPr/>
                  <a:t> tables the product reproduces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μ</m:t>
                        </m:r>
                      </m:e>
                    </m:acc>
                  </m:oMath>
                </a14:m>
                <a:r>
                  <a:rPr/>
                  <a:t> exactly; the tables you leave out are the residual. Compare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limLoc m:val="undOvr"/>
                        <m:subHide m:val="off"/>
                        <m:supHide m:val="on"/>
                      </m:naryPr>
                      <m:sub>
                        <m:r>
                          <m:t>t</m:t>
                        </m:r>
                        <m:r>
                          <m:t> </m:t>
                        </m:r>
                        <m:r>
                          <m:rPr>
                            <m:nor/>
                            <m:sty m:val="p"/>
                          </m:rPr>
                          <m:t>kept</m:t>
                        </m:r>
                      </m:sub>
                      <m:sup>
                        <m:r>
                          <m:t>​</m:t>
                        </m:r>
                      </m:sup>
                      <m:e>
                        <m:sSub>
                          <m:e>
                            <m:r>
                              <m:rPr>
                                <m:nor/>
                                <m:sty m:val="p"/>
                              </m:rPr>
                              <m:t>table</m:t>
                            </m:r>
                          </m:e>
                          <m:sub>
                            <m:r>
                              <m:t>t</m:t>
                            </m:r>
                          </m:sub>
                        </m:sSub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sSub>
                          <m:e>
                            <m:r>
                              <m:t>x</m:t>
                            </m:r>
                          </m:e>
                          <m:sub>
                            <m:r>
                              <m:t>t</m:t>
                            </m:r>
                          </m:sub>
                        </m:sSub>
                      </m:e>
                    </m:d>
                  </m:oMath>
                </a14:m>
                <a:r>
                  <a:rPr/>
                  <a:t> with </a:t>
                </a:r>
                <a14:m>
                  <m:oMath xmlns:m="http://schemas.openxmlformats.org/officeDocument/2006/math">
                    <m:acc>
                      <m:accPr>
                        <m:chr m:val="̂"/>
                      </m:accPr>
                      <m:e>
                        <m:r>
                          <m:t>μ</m:t>
                        </m:r>
                      </m:e>
                    </m:acc>
                    <m:d>
                      <m:dPr>
                        <m:begChr m:val="("/>
                        <m:sepChr m:val=""/>
                        <m:endChr m:val=")"/>
                        <m:grow/>
                      </m:dPr>
                      <m:e>
                        <m:r>
                          <m:t>x</m:t>
                        </m:r>
                      </m:e>
                    </m:d>
                  </m:oMath>
                </a14:m>
                <a:r>
                  <a:rPr/>
                  <a:t> on the book.</a:t>
                </a:r>
              </a:p>
            </p:txBody>
          </p:sp>
        </mc:Choice>
      </mc:AlternateContent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separability lemma</dc:title>
  <dc:creator/>
  <cp:keywords/>
  <dcterms:created xsi:type="dcterms:W3CDTF">2026-10-23T21:41:37Z</dcterms:created>
  <dcterms:modified xsi:type="dcterms:W3CDTF">2026-10-23T21:41:37Z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