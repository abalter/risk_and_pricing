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notesMaster" Target="notesMasters/notesMaster1.xml" /><Relationship Id="rId20" Type="http://schemas.openxmlformats.org/officeDocument/2006/relationships/viewProps" Target="viewProps.xml" /><Relationship Id="rId19" Type="http://schemas.openxmlformats.org/officeDocument/2006/relationships/presProps" Target="presProps.xml" /><Relationship Id="rId1" Type="http://schemas.openxmlformats.org/officeDocument/2006/relationships/slideMaster" Target="slideMasters/slideMaster1.xml" /><Relationship Id="rId22" Type="http://schemas.openxmlformats.org/officeDocument/2006/relationships/tableStyles" Target="tableStyles.xml" /><Relationship Id="rId21"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Open with the sentence on the title slide — that’s the whole talk. A rating factor is supposed to say what the model thinks about a breed, an age, a ZIP. If the number changes because the mix of other pets in the book changed, it isn’t telling you about the breed; it’s telling you about the book.</a:t>
            </a:r>
          </a:p>
          <a:p>
            <a:pPr lvl="0" indent="0" marL="0">
              <a:buNone/>
            </a:pPr>
          </a:p>
          <a:p>
            <a:pPr lvl="0" indent="0" marL="0">
              <a:buNone/>
            </a:pPr>
            <a:r>
              <a:rPr/>
              <a:t>Walk the four rows. The point of the table is not that these are wrong — each is a legitimate quantity — but that we use one word for all of them and only one of them (the GLM factor) is intrinsic to the model.</a:t>
            </a:r>
          </a:p>
          <a:p>
            <a:pPr lvl="0" indent="0" marL="0">
              <a:buNone/>
            </a:pPr>
          </a:p>
          <a:p>
            <a:pPr lvl="0" indent="0" marL="0">
              <a:buNone/>
            </a:pPr>
            <a:r>
              <a:rPr/>
              <a:t>Why now: we’re pricing off a GAM. There is no coefficient table in the sense a GLM has one; mgcv’s coefficients are centered on the training data by identifiability constraints, so even “read off the coefficients” is a book-dependent gauge until you re-gauge it. The natural thing to reach for is a partial-dependence curve, and that is what the ML-in-insurance literature does when it turns a GBM into a tariff.</a:t>
            </a:r>
          </a:p>
          <a:p>
            <a:pPr lvl="0" indent="0" marL="0">
              <a:buNone/>
            </a:pPr>
          </a:p>
          <a:p>
            <a:pPr lvl="0" indent="0" marL="0">
              <a:buNone/>
            </a:pPr>
            <a:r>
              <a:rPr/>
              <a:t>If asked “we already know one-ways are distorted by correlation”: yes — that’s rung one on the next slide, it’s the textbook argument for GLMs. The partial-dependence curve was supposed to fix that, and it fixes half of it.</a:t>
            </a:r>
          </a:p>
          <a:p>
            <a:pPr lvl="0" indent="0" marL="0">
              <a:buNone/>
            </a:pPr>
          </a:p>
          <a:p>
            <a:pPr lvl="0" indent="0" marL="0">
              <a:buNone/>
            </a:pPr>
            <a:r>
              <a:rPr/>
              <a:t>If asked “we use GLM coefficients, not PDPs”: yes, and that’s the right answer. The paper proves why, and gives the recipe for getting the same thing out of a GAM or any other model — which is what we need.</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Rung one: one-way. Averages over everything, so if older pets are disproportionately one breed, the breed factor absorbs age. Everyone in the room knows this; it’s why we fit GLMs.</a:t>
            </a:r>
          </a:p>
          <a:p>
            <a:pPr lvl="0" indent="0" marL="0">
              <a:buNone/>
            </a:pPr>
          </a:p>
          <a:p>
            <a:pPr lvl="0" indent="0" marL="0">
              <a:buNone/>
            </a:pPr>
            <a:r>
              <a:rPr/>
              <a:t>Rung two: partial dependence. Set the breed for every row in the book, average the predictions, compare levels. Correlation is gone because every row gets every breed. But if the model has a breed-by-age interaction, the breed curve is averaged over the book’s age mix, so the breed factor still depends on how many old pets we have. The precise statement: the partial relativity for a variable set S is intrinsic to the model if and only if no model term partially overlaps S. A term that straddles S leaves a book-dependent piece behind.</a:t>
            </a:r>
          </a:p>
          <a:p>
            <a:pPr lvl="0" indent="0" marL="0">
              <a:buNone/>
            </a:pPr>
          </a:p>
          <a:p>
            <a:pPr lvl="0" indent="0" marL="0">
              <a:buNone/>
            </a:pPr>
            <a:r>
              <a:rPr/>
              <a:t>Rung three: the decomposition. Build a table for every subset of variables that a model term touches, and make each table hold only the part of the effect that belongs to that subset — subtract what belongs to its sub-tables (inclusion–exclusion). If “subtract” means “compare to the base cell,” the tables are exactly treatment-coded coefficients: mix-free, 1.00 at base, and their product reproduces the model to the penny. If “subtract” means “average over the book,” the product still reproduces the model but the split between main effect and interaction depends on the mix.</a:t>
            </a:r>
          </a:p>
          <a:p>
            <a:pPr lvl="0" indent="0" marL="0">
              <a:buNone/>
            </a:pPr>
          </a:p>
          <a:p>
            <a:pPr lvl="0" indent="0" marL="0">
              <a:buNone/>
            </a:pPr>
            <a:r>
              <a:rPr/>
              <a:t>The “double-counts” cell: if you build PDP tables for breed, age and breed-by-age and multiply, the pair table already contains both main effects. GLM people never see this because treatment coding has already done the subtraction.</a:t>
            </a:r>
          </a:p>
          <a:p>
            <a:pPr lvl="0" indent="0" marL="0">
              <a:buNone/>
            </a:pPr>
          </a:p>
          <a:p>
            <a:pPr lvl="0" indent="0" marL="0">
              <a:buNone/>
            </a:pPr>
            <a:r>
              <a:rPr/>
              <a:t>If asked “isn’t this just functional ANOVA?”: yes, and the paper says so and cites it. The contribution is the term-level condition for when a table is intrinsic, the base-cell-versus-book-average choice framed as a rating-table decision, and one vocabulary that covers all four rows of the previous slide.</a:t>
            </a:r>
          </a:p>
          <a:p>
            <a:pPr lvl="0" indent="0" marL="0">
              <a:buNone/>
            </a:pPr>
          </a:p>
          <a:p>
            <a:pPr lvl="0" indent="0" marL="0">
              <a:buNone/>
            </a:pPr>
            <a:r>
              <a:rPr/>
              <a:t>One caveat worth saying out loud: “mix-free” means mix-free given the model. If the model is missing an interaction, the fitted main effect absorbed it in a mix-dependent way, and no extraction fixes that. Modeling and factor reporting have to be done together.</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on this slide uses one fixed model. Only the book changes between rows.</a:t>
            </a:r>
          </a:p>
          <a:p>
            <a:pPr lvl="0" indent="0" marL="0">
              <a:buNone/>
            </a:pPr>
          </a:p>
          <a:p>
            <a:pPr lvl="0" indent="0" marL="0">
              <a:buNone/>
            </a:pPr>
            <a:r>
              <a:rPr/>
              <a:t>Read down the one-way column: it moves with the age mix (rows 1–3) and it moves with breed–age correlation even at a fixed overall mix (row 4). Read down the PDP column: row 4 equals row 2 — correlation is gone — but rows 1–3 still move, because the breed-by-age term straddles “breed.” The coefficient column doesn’t move.</a:t>
            </a:r>
          </a:p>
          <a:p>
            <a:pPr lvl="0" indent="0" marL="0">
              <a:buNone/>
            </a:pPr>
          </a:p>
          <a:p>
            <a:pPr lvl="0" indent="0" marL="0">
              <a:buNone/>
            </a:pPr>
            <a:r>
              <a:rPr/>
              <a:t>The formula is the slide’s payoff. Beta-B is the breed coefficient, beta-B-times-old is the interaction, p-old is the share of old pets in whatever book you averaged over. In this toy, 1.5 to the power one plus p-old: from 1.50 if the book is all young to 2.25 if it’s all old, for the same model. Say the bold sentence slowly.</a:t>
            </a:r>
          </a:p>
          <a:p>
            <a:pPr lvl="0" indent="0" marL="0">
              <a:buNone/>
            </a:pPr>
          </a:p>
          <a:p>
            <a:pPr lvl="0" indent="0" marL="0">
              <a:buNone/>
            </a:pPr>
            <a:r>
              <a:rPr/>
              <a:t>Connect to AvT: if the age mix of a segment drifts, its “breed relativity” drifts, and actual-versus-technical reads it as mispricing. Nothing was mispriced.</a:t>
            </a:r>
          </a:p>
          <a:p>
            <a:pPr lvl="0" indent="0" marL="0">
              <a:buNone/>
            </a:pPr>
          </a:p>
          <a:p>
            <a:pPr lvl="0" indent="0" marL="0">
              <a:buNone/>
            </a:pPr>
            <a:r>
              <a:rPr/>
              <a:t>One-way here is the ratio of mean loss cost by breed; PDP is on the link scale, exponentiated. If someone asks about the scale: that’s the convention for a multiplicative plan, and the paper is explicit about it.</a:t>
            </a:r>
          </a:p>
          <a:p>
            <a:pPr lvl="0" indent="0" marL="0">
              <a:buNone/>
            </a:pPr>
          </a:p>
          <a:p>
            <a:pPr lvl="0" indent="0" marL="0">
              <a:buNone/>
            </a:pPr>
            <a:r>
              <a:rPr/>
              <a:t>The real breed-by-age surface from our GAM is the version that goes in the guide. This toy is just small enough to see.</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 guide is the thing colleagues use next quarter. It answers three questions: what do you mean by relativity, how do you compute the one you mean, and which one goes in the rating table. The operator-to-dplyr mapping is the part people like most — the math is three operations and each one is a verb they already use.</a:t>
            </a:r>
          </a:p>
          <a:p>
            <a:pPr lvl="0" indent="0" marL="0">
              <a:buNone/>
            </a:pPr>
          </a:p>
          <a:p>
            <a:pPr lvl="0" indent="0" marL="0">
              <a:buNone/>
            </a:pPr>
            <a:r>
              <a:rPr/>
              <a:t>The article is the same material with the proofs and public-data demonstrations. Framing for the room: we’re about to rate off a method; having it refereed is cheap insurance, and it’s the kind of thing that’s good for the company’s name in the actuarial literature.</a:t>
            </a:r>
          </a:p>
          <a:p>
            <a:pPr lvl="0" indent="0" marL="0">
              <a:buNone/>
            </a:pPr>
          </a:p>
          <a:p>
            <a:pPr lvl="0" indent="0" marL="0">
              <a:buNone/>
            </a:pPr>
            <a:r>
              <a:rPr/>
              <a:t>The four bullets are lifted from the one-page summary, which is in the pre-read.</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Be concrete about the hours and about what exists already — most of the thinking is done; what’s left is examples, assembly and polish.</a:t>
            </a:r>
          </a:p>
          <a:p>
            <a:pPr lvl="0" indent="0" marL="0">
              <a:buNone/>
            </a:pPr>
          </a:p>
          <a:p>
            <a:pPr lvl="0" indent="0" marL="0">
              <a:buNone/>
            </a:pPr>
            <a:r>
              <a:rPr/>
              <a:t>The public datasets are the ones the published GBM-to-tariff papers use (freMTPL2 via CASdatasets, the Belgian MTPL data, ausprivauto0405), so our results are directly comparable. There is no public pet-insurance claims dataset I know of; the pet demonstration stays internal, in the guide.</a:t>
            </a:r>
          </a:p>
          <a:p>
            <a:pPr lvl="0" indent="0" marL="0">
              <a:buNone/>
            </a:pPr>
          </a:p>
          <a:p>
            <a:pPr lvl="0" indent="0" marL="0">
              <a:buNone/>
            </a:pPr>
            <a:r>
              <a:rPr/>
              <a:t>The guide-first sequencing is the risk control: by the end of week two there is a usable internal document regardless of what happens with the article.</a:t>
            </a:r>
          </a:p>
          <a:p>
            <a:pPr lvl="0" indent="0" marL="0">
              <a:buNone/>
            </a:pPr>
          </a:p>
          <a:p>
            <a:pPr lvl="0" indent="0" marL="0">
              <a:buNone/>
            </a:pPr>
            <a:r>
              <a:rPr/>
              <a:t>Close by restating the title: the value is that our rating factors stop depending on who happens to be in the book.</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Only if someone wants the mathematics. The two-variable case of the inclusion–exclusion formula is the familiar one: g for the pair equals the pair table minus the two single tables plus the constant.</a:t>
            </a:r>
          </a:p>
          <a:p>
            <a:pPr lvl="0" indent="0" marL="0">
              <a:buNone/>
            </a:pPr>
          </a:p>
          <a:p>
            <a:pPr lvl="0" indent="0" marL="0">
              <a:buNone/>
            </a:pPr>
            <a:r>
              <a:rPr/>
              <a:t>The last bullet is the practical safeguard: the number of tables does not explode; you need tables for the subsets of terms that are actually in the model.</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the “every relativity is a two-line pipe” claim made good: one-way is a group-by, partial is a mutate followed by a weighted mean, the coefficient is a mutate of everything to the base row.</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Verify years and venues against your copies before this goes anywhere. The “current practice” block is what backs slide 1; the “mathematics” block is what a referee will expect the article to position against.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Rating factors shouldn’t depend on who’s in the book</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Relativities, coefficients, and the interaction decomposition</a:t>
            </a:r>
            <a:br/>
            <a:br/>
            <a:r>
              <a:rPr/>
              <a:t>Ariel Balter</a:t>
            </a:r>
          </a:p>
        </p:txBody>
      </p:sp>
      <p:sp>
        <p:nvSpPr>
          <p:cNvPr id="4" name="Date Placeholder 3"/>
          <p:cNvSpPr>
            <a:spLocks noGrp="1"/>
          </p:cNvSpPr>
          <p:nvPr>
            <p:ph idx="10" sz="half" type="dt"/>
          </p:nvPr>
        </p:nvSpPr>
        <p:spPr/>
        <p:txBody>
          <a:bodyPr/>
          <a:lstStyle/>
          <a:p>
            <a:pPr lvl="0" indent="0" marL="0">
              <a:buNone/>
            </a:pPr>
            <a:r>
              <a:rPr/>
              <a:t>October 23, 2026</a:t>
            </a:r>
          </a:p>
        </p:txBody>
      </p:sp>
    </p:spTree>
  </p:cSld>
</p:sld>
</file>

<file path=ppt/slides/slide2.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2" name="Title 1" /><p:cNvSpPr><a:spLocks noGrp="1" /></p:cNvSpPr><p:nvPr><p:ph type="title" /></p:nvPr></p:nvSpPr><p:spPr><a:xfrm><a:off x="457201" y="204787" /><a:ext cx="3008313" cy="871538" /></a:xfrm></p:spPr><p:txBody><a:bodyPr /><a:lstStyle /><a:p><a:pPr lvl="0" indent="0" marL="0"><a:buNone /></a:pPr><a:r><a:rPr /><a:t>The problem</a:t></a:r></a:p></p:txBody></p:sp><p:sp><p:nvSpPr><p:cNvPr id="4" name="Text Placeholder 3" /><p:cNvSpPr><a:spLocks noGrp="1" /></p:cNvSpPr><p:nvPr><p:ph idx="2" sz="half" type="body" /></p:nvPr></p:nvSpPr><p:spPr /><p:txBody><a:bodyPr /><a:lstStyle /><a:p><a:pPr lvl="0" indent="0" marL="0"><a:buNone /></a:pPr><a:r><a:rPr b="1" /><a:t>“Relativity” names at least four different numbers.</a:t></a:r></a:p></p:txBody></p:sp><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2552700" /><a:gridCol w="2552700" /></a:tblGrid><a:tr h="0"><a:tc><a:txBody><a:bodyPr /><a:lstStyle /><a:p><a:pPr lvl="0" indent="0" marL="0"><a:buNone /></a:pPr><a:r><a:rPr /><a:t>what people call “the relativity”</a:t></a:r></a:p></a:txBody><a:tcPr /></a:tc><a:tc><a:txBody><a:bodyPr /><a:lstStyle /><a:p><a:pPr lvl="0" indent="0" marL="0"><a:buNone /></a:pPr><a:r><a:rPr /><a:t>how it’s computed</a:t></a:r></a:p></a:txBody><a:tcPr /></a:tc></a:tr><a:tr h="0"><a:tc><a:txBody><a:bodyPr /><a:lstStyle /><a:p><a:pPr lvl="0" indent="0" marL="0"><a:buNone /></a:pPr><a:r><a:rPr /><a:t>one-way</a:t></a:r></a:p></a:txBody></a:tc><a:tc><a:txBody><a:bodyPr /><a:lstStyle /><a:p><a:pPr lvl="0" indent="0" marL="0"><a:buNone /></a:pPr><a:r><a:rPr /><a:t>average loss cost at a level </a:t></a:r><a14:m><m:oMath xmlns:m="http://schemas.openxmlformats.org/officeDocument/2006/math"><m:r><m:rPr><m:sty m:val="p" /></m:rPr><m:t>÷</m:t></m:r></m:oMath></a14:m><a:r><a:rPr /><a:t> at the base level</a:t></a:r></a:p></a:txBody></a:tc></a:tr><a:tr h="0"><a:tc><a:txBody><a:bodyPr /><a:lstStyle /><a:p><a:pPr lvl="0" indent="0" marL="0"><a:buNone /></a:pPr><a:r><a:rPr /><a:t>GLM factor</a:t></a:r></a:p></a:txBody></a:tc><a:tc><a:txBody><a:bodyPr /><a:lstStyle /><a:p><a:pPr lvl="0" indent="0" marL="0"><a:buNone /></a:pPr><a14:m><m:oMath xmlns:m="http://schemas.openxmlformats.org/officeDocument/2006/math"><m:sSup><m:e><m:r><m:t>e</m:t></m:r></m:e><m:sup><m:r><m:t>β</m:t></m:r></m:sup></m:sSup></m:oMath></a14:m><a:r><a:rPr /><a:t> relative to a base level</a:t></a:r></a:p></a:txBody></a:tc></a:tr><a:tr h="0"><a:tc><a:txBody><a:bodyPr /><a:lstStyle /><a:p><a:pPr lvl="0" indent="0" marL="0"><a:buNone /></a:pPr><a:r><a:rPr /><a:t>partial dependence</a:t></a:r></a:p></a:txBody></a:tc><a:tc><a:txBody><a:bodyPr /><a:lstStyle /><a:p><a:pPr lvl="0" indent="0" marL="0"><a:buNone /></a:pPr><a:r><a:rPr /><a:t>hold the variable fixed, average the model over the book</a:t></a:r></a:p></a:txBody></a:tc></a:tr><a:tr h="0"><a:tc><a:txBody><a:bodyPr /><a:lstStyle /><a:p><a:pPr lvl="0" indent="0" marL="0"><a:buNone /></a:pPr><a:r><a:rPr /><a:t>model one-way</a:t></a:r></a:p></a:txBody></a:tc><a:tc><a:txBody><a:bodyPr /><a:lstStyle /><a:p><a:pPr lvl="0" indent="0" marL="0"><a:buNone /></a:pPr><a:r><a:rPr /><a:t>average model prediction by level</a:t></a:r></a:p></a:txBody></a:tc></a:tr></a:tbl></a:graphicData></a:graphic></p:graphicFrame></p:spTree></p:cSld></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Only one is a property of the model alone.</a:t>
            </a:r>
            <a:r>
              <a:rPr/>
              <a:t> The others are averages over the book — they move when the book moves, with the model unchanged.</a:t>
            </a:r>
          </a:p>
          <a:p>
            <a:pPr lvl="0" indent="0" marL="0">
              <a:buNone/>
            </a:pPr>
            <a:r>
              <a:rPr/>
              <a:t>Why it matters here:</a:t>
            </a:r>
          </a:p>
          <a:p>
            <a:pPr lvl="0"/>
            <a:r>
              <a:rPr/>
              <a:t>Our GAM has no table to read off. Something has to be extracted, and the default extraction (partial dependence) is a book average.</a:t>
            </a:r>
          </a:p>
          <a:p>
            <a:pPr lvl="0"/>
            <a:r>
              <a:rPr/>
              <a:t>AvT: a mix shift reads as mispricing.</a:t>
            </a:r>
          </a:p>
          <a:p>
            <a:pPr lvl="0"/>
            <a:r>
              <a:rPr/>
              <a:t>Factors aren’t comparable across time, segments or filings unless the reference book travels with them.</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Three ways to extract a factor</a:t>
            </a:r>
          </a:p>
        </p:txBody>
      </p:sp>
      <p:sp>
        <p:nvSpPr>
          <p:cNvPr id="4" name="Text Placeholder 3"/>
          <p:cNvSpPr>
            <a:spLocks noGrp="1"/>
          </p:cNvSpPr>
          <p:nvPr>
            <p:ph idx="2" sz="half" type="body"/>
          </p:nvPr>
        </p:nvSpPr>
        <p:spPr/>
        <p:txBody>
          <a:bodyPr/>
          <a:lstStyle/>
          <a:p>
            <a:pPr lvl="0" indent="0" marL="0">
              <a:buNone/>
            </a:pPr>
            <a:r>
              <a:rPr/>
              <a:t>Each rung fixes the failure of the one below it.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1422400"/>
                <a:gridCol w="1422400"/>
                <a:gridCol w="1422400"/>
              </a:tblGrid>
              <a:tr h="0">
                <a:tc>
                  <a:txBody>
                    <a:bodyPr/>
                    <a:lstStyle/>
                    <a:p>
                      <a:endParaRPr/>
                    </a:p>
                  </a:txBody>
                  <a:tcPr/>
                </a:tc>
                <a:tc>
                  <a:txBody>
                    <a:bodyPr/>
                    <a:lstStyle/>
                    <a:p>
                      <a:pPr lvl="0" indent="0" marL="0" algn="ctr">
                        <a:buNone/>
                      </a:pPr>
                      <a:r>
                        <a:rPr/>
                        <a:t>correlation with other rating variables</a:t>
                      </a:r>
                    </a:p>
                  </a:txBody>
                  <a:tcPr/>
                </a:tc>
                <a:tc>
                  <a:txBody>
                    <a:bodyPr/>
                    <a:lstStyle/>
                    <a:p>
                      <a:pPr lvl="0" indent="0" marL="0" algn="ctr">
                        <a:buNone/>
                      </a:pPr>
                      <a:r>
                        <a:rPr/>
                        <a:t>mix of interacting partners</a:t>
                      </a:r>
                    </a:p>
                  </a:txBody>
                  <a:tcPr/>
                </a:tc>
                <a:tc>
                  <a:txBody>
                    <a:bodyPr/>
                    <a:lstStyle/>
                    <a:p>
                      <a:pPr lvl="0" indent="0" marL="0" algn="ctr">
                        <a:buNone/>
                      </a:pPr>
                      <a:r>
                        <a:rPr/>
                        <a:t>product of tables reproduces the model</a:t>
                      </a:r>
                    </a:p>
                  </a:txBody>
                  <a:tcPr/>
                </a:tc>
              </a:tr>
              <a:tr h="0">
                <a:tc>
                  <a:txBody>
                    <a:bodyPr/>
                    <a:lstStyle/>
                    <a:p>
                      <a:pPr lvl="0" indent="0" marL="0">
                        <a:buNone/>
                      </a:pPr>
                      <a:r>
                        <a:rPr b="1"/>
                        <a:t>one-way</a:t>
                      </a:r>
                    </a:p>
                  </a:txBody>
                </a:tc>
                <a:tc>
                  <a:txBody>
                    <a:bodyPr/>
                    <a:lstStyle/>
                    <a:p>
                      <a:pPr lvl="0" indent="0" marL="0" algn="ctr">
                        <a:buNone/>
                      </a:pPr>
                      <a:r>
                        <a:rPr/>
                        <a:t>leaks in</a:t>
                      </a:r>
                    </a:p>
                  </a:txBody>
                </a:tc>
                <a:tc>
                  <a:txBody>
                    <a:bodyPr/>
                    <a:lstStyle/>
                    <a:p>
                      <a:pPr lvl="0" indent="0" marL="0" algn="ctr">
                        <a:buNone/>
                      </a:pPr>
                      <a:r>
                        <a:rPr/>
                        <a:t>leaks in</a:t>
                      </a:r>
                    </a:p>
                  </a:txBody>
                </a:tc>
                <a:tc>
                  <a:txBody>
                    <a:bodyPr/>
                    <a:lstStyle/>
                    <a:p>
                      <a:pPr lvl="0" indent="0" marL="0" algn="ctr">
                        <a:buNone/>
                      </a:pPr>
                      <a:r>
                        <a:rPr/>
                        <a:t>no</a:t>
                      </a:r>
                    </a:p>
                  </a:txBody>
                </a:tc>
              </a:tr>
              <a:tr h="0">
                <a:tc>
                  <a:txBody>
                    <a:bodyPr/>
                    <a:lstStyle/>
                    <a:p>
                      <a:pPr lvl="0" indent="0" marL="0">
                        <a:buNone/>
                      </a:pPr>
                      <a:r>
                        <a:rPr b="1"/>
                        <a:t>partial dependence</a:t>
                      </a:r>
                      <a:r>
                        <a:rPr/>
                        <a:t> (PDP)</a:t>
                      </a:r>
                    </a:p>
                  </a:txBody>
                </a:tc>
                <a:tc>
                  <a:txBody>
                    <a:bodyPr/>
                    <a:lstStyle/>
                    <a:p>
                      <a:pPr lvl="0" indent="0" marL="0" algn="ctr">
                        <a:buNone/>
                      </a:pPr>
                      <a:r>
                        <a:rPr/>
                        <a:t>removed</a:t>
                      </a:r>
                    </a:p>
                  </a:txBody>
                </a:tc>
                <a:tc>
                  <a:txBody>
                    <a:bodyPr/>
                    <a:lstStyle/>
                    <a:p>
                      <a:pPr lvl="0" indent="0" marL="0" algn="ctr">
                        <a:buNone/>
                      </a:pPr>
                      <a:r>
                        <a:rPr/>
                        <a:t>leaks in whenever an interaction term straddles the variable</a:t>
                      </a:r>
                    </a:p>
                  </a:txBody>
                </a:tc>
                <a:tc>
                  <a:txBody>
                    <a:bodyPr/>
                    <a:lstStyle/>
                    <a:p>
                      <a:pPr lvl="0" indent="0" marL="0" algn="ctr">
                        <a:buNone/>
                      </a:pPr>
                      <a:r>
                        <a:rPr/>
                        <a:t>no — the pair table double-counts the main effects</a:t>
                      </a:r>
                    </a:p>
                  </a:txBody>
                </a:tc>
              </a:tr>
              <a:tr h="0">
                <a:tc>
                  <a:txBody>
                    <a:bodyPr/>
                    <a:lstStyle/>
                    <a:p>
                      <a:pPr lvl="0" indent="0" marL="0">
                        <a:buNone/>
                      </a:pPr>
                      <a:r>
                        <a:rPr b="1"/>
                        <a:t>decomposition anchored at the base cell</a:t>
                      </a:r>
                    </a:p>
                  </a:txBody>
                </a:tc>
                <a:tc>
                  <a:txBody>
                    <a:bodyPr/>
                    <a:lstStyle/>
                    <a:p>
                      <a:pPr lvl="0" indent="0" marL="0" algn="ctr">
                        <a:buNone/>
                      </a:pPr>
                      <a:r>
                        <a:rPr/>
                        <a:t>removed</a:t>
                      </a:r>
                    </a:p>
                  </a:txBody>
                </a:tc>
                <a:tc>
                  <a:txBody>
                    <a:bodyPr/>
                    <a:lstStyle/>
                    <a:p>
                      <a:pPr lvl="0" indent="0" marL="0" algn="ctr">
                        <a:buNone/>
                      </a:pPr>
                      <a:r>
                        <a:rPr/>
                        <a:t>removed</a:t>
                      </a:r>
                    </a:p>
                  </a:txBody>
                </a:tc>
                <a:tc>
                  <a:txBody>
                    <a:bodyPr/>
                    <a:lstStyle/>
                    <a:p>
                      <a:pPr lvl="0" indent="0" marL="0" algn="ctr">
                        <a:buNone/>
                      </a:pPr>
                      <a:r>
                        <a:rPr/>
                        <a:t>yes, exactly</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The third row is what GLM treatment coding does automatically. The work is to do it </a:t>
            </a:r>
            <a:r>
              <a:rPr i="1"/>
              <a:t>on purpose</a:t>
            </a:r>
            <a:r>
              <a:rPr/>
              <a:t>, for any model, and to know </a:t>
            </a:r>
            <a:r>
              <a:rPr i="1"/>
              <a:t>when</a:t>
            </a:r>
            <a:r>
              <a:rPr/>
              <a:t> the second row is good enough.</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Worked example: nothing about the model changes</a:t>
            </a:r>
          </a:p>
        </p:txBody>
      </p:sp>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Two breeds </a:t>
                </a:r>
                <a14:m>
                  <m:oMath xmlns:m="http://schemas.openxmlformats.org/officeDocument/2006/math">
                    <m:r>
                      <m:rPr>
                        <m:sty m:val="p"/>
                      </m:rPr>
                      <m:t>×</m:t>
                    </m:r>
                  </m:oMath>
                </a14:m>
                <a:r>
                  <a:rPr/>
                  <a:t> two ages, log link, base cell = Breed A / young. Breed B </a:t>
                </a:r>
                <a14:m>
                  <m:oMath xmlns:m="http://schemas.openxmlformats.org/officeDocument/2006/math">
                    <m:r>
                      <m:rPr>
                        <m:sty m:val="p"/>
                      </m:rPr>
                      <m:t>×</m:t>
                    </m:r>
                    <m:r>
                      <m:t>1.5</m:t>
                    </m:r>
                  </m:oMath>
                </a14:m>
                <a:r>
                  <a:rPr/>
                  <a:t>, old </a:t>
                </a:r>
                <a14:m>
                  <m:oMath xmlns:m="http://schemas.openxmlformats.org/officeDocument/2006/math">
                    <m:r>
                      <m:rPr>
                        <m:sty m:val="p"/>
                      </m:rPr>
                      <m:t>×</m:t>
                    </m:r>
                    <m:r>
                      <m:t>1.2</m:t>
                    </m:r>
                  </m:oMath>
                </a14:m>
                <a:r>
                  <a:rPr/>
                  <a:t>, B-and-old interaction </a:t>
                </a:r>
                <a14:m>
                  <m:oMath xmlns:m="http://schemas.openxmlformats.org/officeDocument/2006/math">
                    <m:r>
                      <m:rPr>
                        <m:sty m:val="p"/>
                      </m:rPr>
                      <m:t>×</m:t>
                    </m:r>
                    <m:r>
                      <m:t>1.5</m:t>
                    </m:r>
                  </m:oMath>
                </a14:m>
                <a:r>
                  <a:rPr/>
                  <a:t>. So the four cells are A/young 1.00, A/old 1.20, B/young 1.50, B/old 2.70.</a:t>
                </a:r>
              </a:p>
            </p:txBody>
          </p:sp>
        </mc:Choice>
      </mc:AlternateContent>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50900"/>
                <a:gridCol w="1422400"/>
                <a:gridCol w="1422400"/>
                <a:gridCol w="1422400"/>
              </a:tblGrid>
              <a:tr h="0">
                <a:tc>
                  <a:txBody>
                    <a:bodyPr/>
                    <a:lstStyle/>
                    <a:p>
                      <a:pPr lvl="0" indent="0" marL="0">
                        <a:buNone/>
                      </a:pPr>
                      <a:r>
                        <a:rPr/>
                        <a:t>book (share old)</a:t>
                      </a:r>
                    </a:p>
                  </a:txBody>
                  <a:tcPr/>
                </a:tc>
                <a:tc>
                  <a:txBody>
                    <a:bodyPr/>
                    <a:lstStyle/>
                    <a:p>
                      <a:pPr lvl="0" indent="0" marL="0" algn="ctr">
                        <a:buNone/>
                      </a:pPr>
                      <a:r>
                        <a:rPr/>
                        <a:t>one-way breed factor</a:t>
                      </a:r>
                    </a:p>
                  </a:txBody>
                  <a:tcPr/>
                </a:tc>
                <a:tc>
                  <a:txBody>
                    <a:bodyPr/>
                    <a:lstStyle/>
                    <a:p>
                      <a:pPr lvl="0" indent="0" marL="0" algn="ctr">
                        <a:buNone/>
                      </a:pPr>
                      <a:r>
                        <a:rPr/>
                        <a:t>PDP breed factor</a:t>
                      </a:r>
                    </a:p>
                  </a:txBody>
                  <a:tcPr/>
                </a:tc>
                <a:tc>
                  <a:txBody>
                    <a:bodyPr/>
                    <a:lstStyle/>
                    <a:p>
                      <a:pPr lvl="0" indent="0" marL="0" algn="ctr">
                        <a:buNone/>
                      </a:pPr>
                      <a:r>
                        <a:rPr/>
                        <a:t>coefficient</a:t>
                      </a:r>
                    </a:p>
                  </a:txBody>
                  <a:tcPr/>
                </a:tc>
              </a:tr>
              <a:tr h="0">
                <a:tc>
                  <a:txBody>
                    <a:bodyPr/>
                    <a:lstStyle/>
                    <a:p>
                      <a:pPr lvl="0" indent="0" marL="0">
                        <a:buNone/>
                      </a:pPr>
                      <a:r>
                        <a:rPr/>
                        <a:t>20 %</a:t>
                      </a:r>
                    </a:p>
                  </a:txBody>
                </a:tc>
                <a:tc>
                  <a:txBody>
                    <a:bodyPr/>
                    <a:lstStyle/>
                    <a:p>
                      <a:pPr lvl="0" indent="0" marL="0" algn="ctr">
                        <a:buNone/>
                      </a:pPr>
                      <a:r>
                        <a:rPr/>
                        <a:t>1.67</a:t>
                      </a:r>
                    </a:p>
                  </a:txBody>
                </a:tc>
                <a:tc>
                  <a:txBody>
                    <a:bodyPr/>
                    <a:lstStyle/>
                    <a:p>
                      <a:pPr lvl="0" indent="0" marL="0" algn="ctr">
                        <a:buNone/>
                      </a:pPr>
                      <a:r>
                        <a:rPr/>
                        <a:t>1.63</a:t>
                      </a:r>
                    </a:p>
                  </a:txBody>
                </a:tc>
                <a:tc>
                  <a:txBody>
                    <a:bodyPr/>
                    <a:lstStyle/>
                    <a:p>
                      <a:pPr lvl="0" indent="0" marL="0" algn="ctr">
                        <a:buNone/>
                      </a:pPr>
                      <a:r>
                        <a:rPr b="1"/>
                        <a:t>1.50</a:t>
                      </a:r>
                    </a:p>
                  </a:txBody>
                </a:tc>
              </a:tr>
              <a:tr h="0">
                <a:tc>
                  <a:txBody>
                    <a:bodyPr/>
                    <a:lstStyle/>
                    <a:p>
                      <a:pPr lvl="0" indent="0" marL="0">
                        <a:buNone/>
                      </a:pPr>
                      <a:r>
                        <a:rPr/>
                        <a:t>50 %</a:t>
                      </a:r>
                    </a:p>
                  </a:txBody>
                </a:tc>
                <a:tc>
                  <a:txBody>
                    <a:bodyPr/>
                    <a:lstStyle/>
                    <a:p>
                      <a:pPr lvl="0" indent="0" marL="0" algn="ctr">
                        <a:buNone/>
                      </a:pPr>
                      <a:r>
                        <a:rPr/>
                        <a:t>1.91</a:t>
                      </a:r>
                    </a:p>
                  </a:txBody>
                </a:tc>
                <a:tc>
                  <a:txBody>
                    <a:bodyPr/>
                    <a:lstStyle/>
                    <a:p>
                      <a:pPr lvl="0" indent="0" marL="0" algn="ctr">
                        <a:buNone/>
                      </a:pPr>
                      <a:r>
                        <a:rPr/>
                        <a:t>1.84</a:t>
                      </a:r>
                    </a:p>
                  </a:txBody>
                </a:tc>
                <a:tc>
                  <a:txBody>
                    <a:bodyPr/>
                    <a:lstStyle/>
                    <a:p>
                      <a:pPr lvl="0" indent="0" marL="0" algn="ctr">
                        <a:buNone/>
                      </a:pPr>
                      <a:r>
                        <a:rPr b="1"/>
                        <a:t>1.50</a:t>
                      </a:r>
                    </a:p>
                  </a:txBody>
                </a:tc>
              </a:tr>
              <a:tr h="0">
                <a:tc>
                  <a:txBody>
                    <a:bodyPr/>
                    <a:lstStyle/>
                    <a:p>
                      <a:pPr lvl="0" indent="0" marL="0">
                        <a:buNone/>
                      </a:pPr>
                      <a:r>
                        <a:rPr/>
                        <a:t>80 %</a:t>
                      </a:r>
                    </a:p>
                  </a:txBody>
                </a:tc>
                <a:tc>
                  <a:txBody>
                    <a:bodyPr/>
                    <a:lstStyle/>
                    <a:p>
                      <a:pPr lvl="0" indent="0" marL="0" algn="ctr">
                        <a:buNone/>
                      </a:pPr>
                      <a:r>
                        <a:rPr/>
                        <a:t>2.12</a:t>
                      </a:r>
                    </a:p>
                  </a:txBody>
                </a:tc>
                <a:tc>
                  <a:txBody>
                    <a:bodyPr/>
                    <a:lstStyle/>
                    <a:p>
                      <a:pPr lvl="0" indent="0" marL="0" algn="ctr">
                        <a:buNone/>
                      </a:pPr>
                      <a:r>
                        <a:rPr/>
                        <a:t>2.07</a:t>
                      </a:r>
                    </a:p>
                  </a:txBody>
                </a:tc>
                <a:tc>
                  <a:txBody>
                    <a:bodyPr/>
                    <a:lstStyle/>
                    <a:p>
                      <a:pPr lvl="0" indent="0" marL="0" algn="ctr">
                        <a:buNone/>
                      </a:pPr>
                      <a:r>
                        <a:rPr b="1"/>
                        <a:t>1.50</a:t>
                      </a:r>
                    </a:p>
                  </a:txBody>
                </a:tc>
              </a:tr>
              <a:tr h="0">
                <a:tc>
                  <a:txBody>
                    <a:bodyPr/>
                    <a:lstStyle/>
                    <a:p>
                      <a:pPr lvl="0" indent="0" marL="0">
                        <a:buNone/>
                      </a:pPr>
                      <a:r>
                        <a:rPr/>
                        <a:t>50 % overall, but B skews old (A 30 %, B 70 %)</a:t>
                      </a:r>
                    </a:p>
                  </a:txBody>
                </a:tc>
                <a:tc>
                  <a:txBody>
                    <a:bodyPr/>
                    <a:lstStyle/>
                    <a:p>
                      <a:pPr lvl="0" indent="0" marL="0" algn="ctr">
                        <a:buNone/>
                      </a:pPr>
                      <a:r>
                        <a:rPr/>
                        <a:t>2.21</a:t>
                      </a:r>
                    </a:p>
                  </a:txBody>
                </a:tc>
                <a:tc>
                  <a:txBody>
                    <a:bodyPr/>
                    <a:lstStyle/>
                    <a:p>
                      <a:pPr lvl="0" indent="0" marL="0" algn="ctr">
                        <a:buNone/>
                      </a:pPr>
                      <a:r>
                        <a:rPr/>
                        <a:t>1.84</a:t>
                      </a:r>
                    </a:p>
                  </a:txBody>
                </a:tc>
                <a:tc>
                  <a:txBody>
                    <a:bodyPr/>
                    <a:lstStyle/>
                    <a:p>
                      <a:pPr lvl="0" indent="0" marL="0" algn="ctr">
                        <a:buNone/>
                      </a:pPr>
                      <a:r>
                        <a:rPr b="1"/>
                        <a:t>1.50</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PDP column has a closed form — and it </a:t>
                </a:r>
                <a:r>
                  <a:rPr i="1"/>
                  <a:t>is</a:t>
                </a:r>
                <a:r>
                  <a:rPr/>
                  <a:t> the theorem for two variables:</a:t>
                </a:r>
              </a:p>
              <a:p>
                <a:pPr lvl="0" indent="0" marL="0">
                  <a:buNone/>
                </a:pPr>
                <a14:m>
                  <m:oMathPara xmlns:m="http://schemas.openxmlformats.org/officeDocument/2006/math">
                    <m:oMathParaPr>
                      <m:jc m:val="center"/>
                    </m:oMathParaPr>
                    <m:oMath>
                      <m:sSubSup>
                        <m:e>
                          <m:r>
                            <m:t>R</m:t>
                          </m:r>
                        </m:e>
                        <m:sub>
                          <m:r>
                            <m:t>B</m:t>
                          </m:r>
                        </m:sub>
                        <m:sup>
                          <m:r>
                            <m:rPr>
                              <m:nor/>
                              <m:sty m:val="p"/>
                            </m:rPr>
                            <m:t>PDP</m:t>
                          </m:r>
                        </m:sup>
                      </m:sSubSup>
                      <m:r>
                        <m:t> </m:t>
                      </m:r>
                      <m:r>
                        <m:rPr>
                          <m:sty m:val="p"/>
                        </m:rPr>
                        <m:t>=</m:t>
                      </m:r>
                      <m:r>
                        <m:t> </m:t>
                      </m:r>
                      <m:r>
                        <m:rPr>
                          <m:sty m:val="p"/>
                        </m:rPr>
                        <m:t>exp</m:t>
                      </m:r>
                      <m:r>
                        <m:t>​</m:t>
                      </m:r>
                      <m:d>
                        <m:dPr>
                          <m:begChr m:val="("/>
                          <m:sepChr m:val=""/>
                          <m:endChr m:val=")"/>
                          <m:grow/>
                        </m:dPr>
                        <m:e>
                          <m:sSub>
                            <m:e>
                              <m:r>
                                <m:t>β</m:t>
                              </m:r>
                            </m:e>
                            <m:sub>
                              <m:r>
                                <m:t>B</m:t>
                              </m:r>
                            </m:sub>
                          </m:sSub>
                          <m:r>
                            <m:rPr>
                              <m:sty m:val="p"/>
                            </m:rPr>
                            <m:t>+</m:t>
                          </m:r>
                          <m:sSub>
                            <m:e>
                              <m:r>
                                <m:t>p</m:t>
                              </m:r>
                            </m:e>
                            <m:sub>
                              <m:r>
                                <m:rPr>
                                  <m:nor/>
                                  <m:sty m:val="p"/>
                                </m:rPr>
                                <m:t>old</m:t>
                              </m:r>
                            </m:sub>
                          </m:sSub>
                          <m:r>
                            <m:t> </m:t>
                          </m:r>
                          <m:sSub>
                            <m:e>
                              <m:r>
                                <m:t>β</m:t>
                              </m:r>
                            </m:e>
                            <m:sub>
                              <m:r>
                                <m:t>B</m:t>
                              </m:r>
                              <m:r>
                                <m:rPr>
                                  <m:sty m:val="p"/>
                                </m:rPr>
                                <m:t>×</m:t>
                              </m:r>
                              <m:r>
                                <m:rPr>
                                  <m:nor/>
                                  <m:sty m:val="p"/>
                                </m:rPr>
                                <m:t>old</m:t>
                              </m:r>
                            </m:sub>
                          </m:sSub>
                        </m:e>
                      </m:d>
                      <m:r>
                        <m:t> </m:t>
                      </m:r>
                      <m:r>
                        <m:rPr>
                          <m:sty m:val="p"/>
                        </m:rPr>
                        <m:t>=</m:t>
                      </m:r>
                      <m:r>
                        <m:t> </m:t>
                      </m:r>
                      <m:r>
                        <m:t>1.5</m:t>
                      </m:r>
                      <m:r>
                        <m:rPr>
                          <m:sty m:val="p"/>
                        </m:rPr>
                        <m:t>×</m:t>
                      </m:r>
                      <m:sSup>
                        <m:e>
                          <m:r>
                            <m:t>1.5</m:t>
                          </m:r>
                        </m:e>
                        <m:sup>
                          <m:r>
                            <m:t> </m:t>
                          </m:r>
                          <m:sSub>
                            <m:e>
                              <m:r>
                                <m:t>p</m:t>
                              </m:r>
                            </m:e>
                            <m:sub>
                              <m:r>
                                <m:rPr>
                                  <m:nor/>
                                  <m:sty m:val="p"/>
                                </m:rPr>
                                <m:t>old</m:t>
                              </m:r>
                            </m:sub>
                          </m:sSub>
                        </m:sup>
                      </m:sSup>
                    </m:oMath>
                  </m:oMathPara>
                </a14:m>
              </a:p>
              <a:p>
                <a:pPr lvl="0" indent="0" marL="0">
                  <a:buNone/>
                </a:pPr>
                <a:r>
                  <a:rPr b="1"/>
                  <a:t>The partial relativity is the coefficient, plus the interaction coefficient times the share of old pets in the book.</a:t>
                </a:r>
              </a:p>
            </p:txBody>
          </p:sp>
        </mc:Choice>
      </mc:AlternateContent>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 deliverables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Practical guide (internal)</a:t>
                </a:r>
              </a:p>
              <a:p>
                <a:pPr lvl="0"/>
                <a:r>
                  <a:rPr/>
                  <a:t>One vocabulary: which of the four numbers you mean, and when each is the right one</a:t>
                </a:r>
              </a:p>
              <a:p>
                <a:pPr lvl="0"/>
                <a:r>
                  <a:rPr/>
                  <a:t>The algebra as three operators (</a:t>
                </a:r>
                <a:r>
                  <a:rPr>
                    <a:latin typeface="Courier"/>
                  </a:rPr>
                  <a:t>filter</a:t>
                </a:r>
                <a:r>
                  <a:rPr/>
                  <a:t>, </a:t>
                </a:r>
                <a:r>
                  <a:rPr>
                    <a:latin typeface="Courier"/>
                  </a:rPr>
                  <a:t>mutate</a:t>
                </a:r>
                <a:r>
                  <a:rPr/>
                  <a:t>, weighted mean) — every relativity is a two-line </a:t>
                </a:r>
                <a:r>
                  <a:rPr>
                    <a:latin typeface="Courier"/>
                  </a:rPr>
                  <a:t>dplyr</a:t>
                </a:r>
                <a:r>
                  <a:rPr/>
                  <a:t> pipe</a:t>
                </a:r>
              </a:p>
              <a:p>
                <a:pPr lvl="0"/>
                <a:r>
                  <a:rPr/>
                  <a:t>The recommendation, with the proof: rating factors = base-cell term contributions, for GLM or GAM</a:t>
                </a:r>
              </a:p>
              <a:p>
                <a:pPr lvl="0"/>
                <a:r>
                  <a:rPr/>
                  <a:t>The breed </a:t>
                </a:r>
                <a14:m>
                  <m:oMath xmlns:m="http://schemas.openxmlformats.org/officeDocument/2006/math">
                    <m:r>
                      <m:rPr>
                        <m:sty m:val="p"/>
                      </m:rPr>
                      <m:t>×</m:t>
                    </m:r>
                  </m:oMath>
                </a14:m>
                <a:r>
                  <a:rPr/>
                  <a:t> age demonstration from our model</a:t>
                </a:r>
              </a:p>
            </p:txBody>
          </p:sp>
        </mc:Choice>
      </mc:AlternateContent>
      <p:sp>
        <p:nvSpPr>
          <p:cNvPr id="4" name="Content Placeholder 3"/>
          <p:cNvSpPr>
            <a:spLocks noGrp="1"/>
          </p:cNvSpPr>
          <p:nvPr>
            <p:ph idx="2" sz="half"/>
          </p:nvPr>
        </p:nvSpPr>
        <p:spPr/>
        <p:txBody>
          <a:bodyPr/>
          <a:lstStyle/>
          <a:p>
            <a:pPr lvl="0" indent="0" marL="0">
              <a:spcBef>
                <a:spcPts val="3000"/>
              </a:spcBef>
              <a:buNone/>
            </a:pPr>
            <a:r>
              <a:rPr b="1"/>
              <a:t>Journal article (external)</a:t>
            </a:r>
          </a:p>
          <a:p>
            <a:pPr lvl="0"/>
            <a:r>
              <a:rPr/>
              <a:t>Same framework, with the theorem and proofs</a:t>
            </a:r>
          </a:p>
          <a:p>
            <a:pPr lvl="0"/>
            <a:r>
              <a:rPr/>
              <a:t>The term-level condition for when a relativity is intrinsic vs. portfolio-defined</a:t>
            </a:r>
          </a:p>
          <a:p>
            <a:pPr lvl="0"/>
            <a:r>
              <a:rPr/>
              <a:t>Demonstrations on public insurance datasets, comparable to the published GBM-to-tariff work</a:t>
            </a:r>
          </a:p>
          <a:p>
            <a:pPr lvl="0"/>
            <a:r>
              <a:rPr/>
              <a:t>Peer review as quality control on a method we’re about to rate on</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From the paper’s one-page summary:</a:t>
            </a:r>
          </a:p>
          <a:p>
            <a:pPr lvl="0"/>
            <a:r>
              <a:rPr/>
              <a:t>A one-way partial dependence plot is generally </a:t>
            </a:r>
            <a:r>
              <a:rPr b="1"/>
              <a:t>not</a:t>
            </a:r>
            <a:r>
              <a:rPr/>
              <a:t> “the relativity” for a variable.</a:t>
            </a:r>
          </a:p>
          <a:p>
            <a:pPr lvl="0"/>
            <a:r>
              <a:rPr/>
              <a:t>Portfolio mix can change reported marginal relativities while the fitted coefficients are unchanged.</a:t>
            </a:r>
          </a:p>
          <a:p>
            <a:pPr lvl="0"/>
            <a:r>
              <a:rPr/>
              <a:t>Rating manuals should be built from coefficient and interaction terms, not portfolio-averaged effects.</a:t>
            </a:r>
          </a:p>
          <a:p>
            <a:pPr lvl="0"/>
            <a:r>
              <a:rPr/>
              <a:t>Reference portfolios should be disclosed whenever marginal relativities are reported.</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ask</a:t>
            </a:r>
          </a:p>
        </p:txBody>
      </p:sp>
      <p:sp>
        <p:nvSpPr>
          <p:cNvPr id="3" name="Content Placeholder 2"/>
          <p:cNvSpPr>
            <a:spLocks noGrp="1"/>
          </p:cNvSpPr>
          <p:nvPr>
            <p:ph idx="1"/>
          </p:nvPr>
        </p:nvSpPr>
        <p:spPr/>
        <p:txBody>
          <a:bodyPr/>
          <a:lstStyle/>
          <a:p>
            <a:pPr lvl="0" indent="0" marL="0">
              <a:buNone/>
            </a:pPr>
            <a:r>
              <a:rPr b="1"/>
              <a:t>Three weeks, about 15 hours a week — 45 hours.</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indent="0" marL="0">
              <a:spcBef>
                <a:spcPts val="3000"/>
              </a:spcBef>
              <a:buNone/>
            </a:pPr>
            <a:r>
              <a:rPr b="1"/>
              <a:t>Done</a:t>
            </a:r>
          </a:p>
          <a:p>
            <a:pPr lvl="0"/>
            <a:r>
              <a:rPr/>
              <a:t>Unified vocabulary and algebra</a:t>
            </a:r>
          </a:p>
          <a:p>
            <a:pPr lvl="0"/>
            <a:r>
              <a:rPr/>
              <a:t>Operator notation → the two-line code it produces</a:t>
            </a:r>
          </a:p>
          <a:p>
            <a:pPr lvl="0"/>
            <a:r>
              <a:rPr/>
              <a:t>The decomposition proof</a:t>
            </a:r>
          </a:p>
          <a:p>
            <a:pPr lvl="0"/>
            <a:r>
              <a:rPr/>
              <a:t>Paper sections drafted</a:t>
            </a:r>
          </a:p>
          <a:p>
            <a:pPr lvl="0"/>
            <a:r>
              <a:rPr/>
              <a:t>One-page summary (pre-read)</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spcBef>
                    <a:spcPts val="3000"/>
                  </a:spcBef>
                  <a:buNone/>
                </a:pPr>
                <a:r>
                  <a:rPr b="1"/>
                  <a:t>Remaining</a:t>
                </a:r>
              </a:p>
              <a:p>
                <a:pPr lvl="0"/>
                <a:r>
                  <a:rPr/>
                  <a:t>More worked examples, including breed </a:t>
                </a:r>
                <a14:m>
                  <m:oMath xmlns:m="http://schemas.openxmlformats.org/officeDocument/2006/math">
                    <m:r>
                      <m:rPr>
                        <m:sty m:val="p"/>
                      </m:rPr>
                      <m:t>×</m:t>
                    </m:r>
                  </m:oMath>
                </a14:m>
                <a:r>
                  <a:rPr/>
                  <a:t> age from our model</a:t>
                </a:r>
              </a:p>
              <a:p>
                <a:pPr lvl="0"/>
                <a:r>
                  <a:rPr/>
                  <a:t>Demonstrations on open-source insurance data (French MTPL, Belgian MTPL, Australian auto)</a:t>
                </a:r>
              </a:p>
              <a:p>
                <a:pPr lvl="0"/>
                <a:r>
                  <a:rPr/>
                  <a:t>Guide: assemble, review with the team</a:t>
                </a:r>
              </a:p>
              <a:p>
                <a:pPr lvl="0"/>
                <a:r>
                  <a:rPr/>
                  <a:t>Article: polish, format, submit</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Sequence:</a:t>
            </a:r>
            <a:r>
              <a:rPr/>
              <a:t> guide first (weeks 1–2, immediately usable, review checkpoint) — article last (week 3).</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Backup</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result in one line</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Link-scale predictor as a sum of terms, each on a subset </a:t>
                </a:r>
                <a14:m>
                  <m:oMath xmlns:m="http://schemas.openxmlformats.org/officeDocument/2006/math">
                    <m:r>
                      <m:t>t</m:t>
                    </m:r>
                  </m:oMath>
                </a14:m>
                <a:r>
                  <a:rPr/>
                  <a:t> of the variables:</a:t>
                </a:r>
              </a:p>
              <a:p>
                <a:pPr lvl="0" indent="0" marL="0">
                  <a:buNone/>
                </a:pPr>
                <a14:m>
                  <m:oMathPara xmlns:m="http://schemas.openxmlformats.org/officeDocument/2006/math">
                    <m:oMathParaPr>
                      <m:jc m:val="center"/>
                    </m:oMathParaPr>
                    <m:oMath>
                      <m:r>
                        <m:t>F</m:t>
                      </m:r>
                      <m:d>
                        <m:dPr>
                          <m:begChr m:val="("/>
                          <m:sepChr m:val=""/>
                          <m:endChr m:val=")"/>
                          <m:grow/>
                        </m:dPr>
                        <m:e>
                          <m:r>
                            <m:t>x</m:t>
                          </m:r>
                        </m:e>
                      </m:d>
                      <m:r>
                        <m:t> </m:t>
                      </m:r>
                      <m:r>
                        <m:rPr>
                          <m:sty m:val="p"/>
                        </m:rPr>
                        <m:t>=</m:t>
                      </m:r>
                      <m:r>
                        <m:t> </m:t>
                      </m:r>
                      <m:nary>
                        <m:naryPr>
                          <m:chr m:val="∑"/>
                          <m:limLoc m:val="undOvr"/>
                          <m:subHide m:val="off"/>
                          <m:supHide m:val="on"/>
                        </m:naryPr>
                        <m:sub>
                          <m:r>
                            <m:t>t</m:t>
                          </m:r>
                          <m:r>
                            <m:rPr>
                              <m:sty m:val="p"/>
                            </m:rPr>
                            <m:t>∈</m:t>
                          </m:r>
                          <m:r>
                            <m:t>T</m:t>
                          </m:r>
                        </m:sub>
                        <m:sup>
                          <m:r>
                            <m:t>​</m:t>
                          </m:r>
                        </m:sup>
                        <m:e>
                          <m:sSub>
                            <m:e>
                              <m:r>
                                <m:t>f</m:t>
                              </m:r>
                            </m:e>
                            <m:sub>
                              <m:r>
                                <m:t>t</m:t>
                              </m:r>
                            </m:sub>
                          </m:sSub>
                        </m:e>
                      </m:nary>
                      <m:d>
                        <m:dPr>
                          <m:begChr m:val="("/>
                          <m:sepChr m:val=""/>
                          <m:endChr m:val=")"/>
                          <m:grow/>
                        </m:dPr>
                        <m:e>
                          <m:sSub>
                            <m:e>
                              <m:r>
                                <m:t>x</m:t>
                              </m:r>
                            </m:e>
                            <m:sub>
                              <m:r>
                                <m:t>t</m:t>
                              </m:r>
                            </m:sub>
                          </m:sSub>
                        </m:e>
                      </m:d>
                    </m:oMath>
                  </m:oMathPara>
                </a14:m>
              </a:p>
              <a:p>
                <a:pPr lvl="0" indent="0" marL="0">
                  <a:buNone/>
                </a:pPr>
                <a:r>
                  <a:rPr/>
                  <a:t>Partial relativity for a variable set </a:t>
                </a:r>
                <a14:m>
                  <m:oMath xmlns:m="http://schemas.openxmlformats.org/officeDocument/2006/math">
                    <m:r>
                      <m:t>S</m:t>
                    </m:r>
                  </m:oMath>
                </a14:m>
                <a:r>
                  <a:rPr/>
                  <a:t> — set </a:t>
                </a:r>
                <a14:m>
                  <m:oMath xmlns:m="http://schemas.openxmlformats.org/officeDocument/2006/math">
                    <m:sSub>
                      <m:e>
                        <m:r>
                          <m:t>x</m:t>
                        </m:r>
                      </m:e>
                      <m:sub>
                        <m:r>
                          <m:t>S</m:t>
                        </m:r>
                      </m:sub>
                    </m:sSub>
                  </m:oMath>
                </a14:m>
                <a:r>
                  <a:rPr/>
                  <a:t> to </a:t>
                </a:r>
                <a14:m>
                  <m:oMath xmlns:m="http://schemas.openxmlformats.org/officeDocument/2006/math">
                    <m:sSub>
                      <m:e>
                        <m:r>
                          <m:t>z</m:t>
                        </m:r>
                      </m:e>
                      <m:sub>
                        <m:r>
                          <m:t>S</m:t>
                        </m:r>
                      </m:sub>
                    </m:sSub>
                  </m:oMath>
                </a14:m>
                <a:r>
                  <a:rPr/>
                  <a:t> on every row, take the weighted mean over the book </a:t>
                </a:r>
                <a14:m>
                  <m:oMath xmlns:m="http://schemas.openxmlformats.org/officeDocument/2006/math">
                    <m:r>
                      <m:t>w</m:t>
                    </m:r>
                  </m:oMath>
                </a14:m>
                <a:r>
                  <a:rPr/>
                  <a:t>:</a:t>
                </a:r>
              </a:p>
              <a:p>
                <a:pPr lvl="0" indent="0" marL="0">
                  <a:buNone/>
                </a:pPr>
                <a14:m>
                  <m:oMathPara xmlns:m="http://schemas.openxmlformats.org/officeDocument/2006/math">
                    <m:oMathParaPr>
                      <m:jc m:val="center"/>
                    </m:oMathParaPr>
                    <m:oMath>
                      <m:sSub>
                        <m:e>
                          <m:r>
                            <m:t>M</m:t>
                          </m:r>
                        </m:e>
                        <m:sub>
                          <m:r>
                            <m:t>S</m:t>
                          </m:r>
                        </m:sub>
                      </m:sSub>
                      <m:d>
                        <m:dPr>
                          <m:begChr m:val="("/>
                          <m:sepChr m:val=""/>
                          <m:endChr m:val=")"/>
                          <m:grow/>
                        </m:dPr>
                        <m:e>
                          <m:sSub>
                            <m:e>
                              <m:r>
                                <m:t>z</m:t>
                              </m:r>
                            </m:e>
                            <m:sub>
                              <m:r>
                                <m:t>S</m:t>
                              </m:r>
                            </m:sub>
                          </m:sSub>
                        </m:e>
                      </m:d>
                      <m:r>
                        <m:t> </m:t>
                      </m:r>
                      <m:r>
                        <m:rPr>
                          <m:sty m:val="p"/>
                        </m:rPr>
                        <m:t>=</m:t>
                      </m:r>
                      <m:r>
                        <m:t> </m:t>
                      </m:r>
                      <m:sSub>
                        <m:e>
                          <m:r>
                            <m:rPr>
                              <m:sty m:val="p"/>
                              <m:scr m:val="double-struck"/>
                            </m:rPr>
                            <m:t>E</m:t>
                          </m:r>
                        </m:e>
                        <m:sub>
                          <m:r>
                            <m:t>w</m:t>
                          </m:r>
                        </m:sub>
                      </m:sSub>
                      <m:d>
                        <m:dPr>
                          <m:begChr m:val="["/>
                          <m:sepChr m:val=""/>
                          <m:endChr m:val="]"/>
                          <m:grow/>
                        </m:dPr>
                        <m:e>
                          <m:r>
                            <m:t> </m:t>
                          </m:r>
                          <m:r>
                            <m:t>F</m:t>
                          </m:r>
                          <m:d>
                            <m:dPr>
                              <m:begChr m:val="("/>
                              <m:sepChr m:val=""/>
                              <m:endChr m:val=")"/>
                              <m:grow/>
                            </m:dPr>
                            <m:e>
                              <m:sSub>
                                <m:e>
                                  <m:r>
                                    <m:t>z</m:t>
                                  </m:r>
                                </m:e>
                                <m:sub>
                                  <m:r>
                                    <m:t>S</m:t>
                                  </m:r>
                                </m:sub>
                              </m:sSub>
                              <m:r>
                                <m:rPr>
                                  <m:sty m:val="p"/>
                                </m:rPr>
                                <m:t>,</m:t>
                              </m:r>
                              <m:sSub>
                                <m:e>
                                  <m:r>
                                    <m:t>X</m:t>
                                  </m:r>
                                </m:e>
                                <m:sub>
                                  <m:r>
                                    <m:rPr>
                                      <m:sty m:val="p"/>
                                    </m:rPr>
                                    <m:t>−</m:t>
                                  </m:r>
                                  <m:r>
                                    <m:t>S</m:t>
                                  </m:r>
                                </m:sub>
                              </m:sSub>
                            </m:e>
                          </m:d>
                          <m:r>
                            <m:t> </m:t>
                          </m:r>
                        </m:e>
                      </m:d>
                    </m:oMath>
                  </m:oMathPara>
                </a14:m>
              </a:p>
              <a:p>
                <a:pPr lvl="0" indent="0" marL="0">
                  <a:buNone/>
                </a:pPr>
                <a14:m>
                  <m:oMath xmlns:m="http://schemas.openxmlformats.org/officeDocument/2006/math">
                    <m:sSub>
                      <m:e>
                        <m:r>
                          <m:t>M</m:t>
                        </m:r>
                      </m:e>
                      <m:sub>
                        <m:r>
                          <m:t>S</m:t>
                        </m:r>
                      </m:sub>
                    </m:sSub>
                  </m:oMath>
                </a14:m>
                <a:r>
                  <a:rPr b="1"/>
                  <a:t> is intrinsic to the model iff every term satisfies </a:t>
                </a:r>
                <a14:m>
                  <m:oMath xmlns:m="http://schemas.openxmlformats.org/officeDocument/2006/math">
                    <m:r>
                      <m:t>t</m:t>
                    </m:r>
                    <m:r>
                      <m:rPr>
                        <m:sty m:val="p"/>
                      </m:rPr>
                      <m:t>⊆</m:t>
                    </m:r>
                    <m:r>
                      <m:t>S</m:t>
                    </m:r>
                  </m:oMath>
                </a14:m>
                <a:r>
                  <a:rPr b="1"/>
                  <a:t> or </a:t>
                </a:r>
                <a14:m>
                  <m:oMath xmlns:m="http://schemas.openxmlformats.org/officeDocument/2006/math">
                    <m:r>
                      <m:t>t</m:t>
                    </m:r>
                    <m:r>
                      <m:rPr>
                        <m:sty m:val="p"/>
                      </m:rPr>
                      <m:t>∩</m:t>
                    </m:r>
                    <m:r>
                      <m:t>S</m:t>
                    </m:r>
                    <m:r>
                      <m:rPr>
                        <m:sty m:val="p"/>
                      </m:rPr>
                      <m:t>=</m:t>
                    </m:r>
                    <m:r>
                      <m:rPr>
                        <m:sty m:val="p"/>
                      </m:rPr>
                      <m:t>⌀</m:t>
                    </m:r>
                  </m:oMath>
                </a14:m>
                <a:r>
                  <a:rPr b="1"/>
                  <a:t>.</a:t>
                </a:r>
                <a:r>
                  <a:rPr/>
                  <a:t> A straddling term contributes </a:t>
                </a:r>
                <a14:m>
                  <m:oMath xmlns:m="http://schemas.openxmlformats.org/officeDocument/2006/math">
                    <m:sSub>
                      <m:e>
                        <m:r>
                          <m:rPr>
                            <m:sty m:val="p"/>
                            <m:scr m:val="double-struck"/>
                          </m:rPr>
                          <m:t>E</m:t>
                        </m:r>
                      </m:e>
                      <m:sub>
                        <m:r>
                          <m:t>w</m:t>
                        </m:r>
                      </m:sub>
                    </m:sSub>
                    <m:r>
                      <m:t> </m:t>
                    </m:r>
                    <m:sSub>
                      <m:e>
                        <m:r>
                          <m:t>f</m:t>
                        </m:r>
                      </m:e>
                      <m:sub>
                        <m:r>
                          <m:t>t</m:t>
                        </m:r>
                      </m:sub>
                    </m:sSub>
                    <m:d>
                      <m:dPr>
                        <m:begChr m:val="("/>
                        <m:sepChr m:val=""/>
                        <m:endChr m:val=")"/>
                        <m:grow/>
                      </m:dPr>
                      <m:e>
                        <m:sSub>
                          <m:e>
                            <m:r>
                              <m:t>z</m:t>
                            </m:r>
                          </m:e>
                          <m:sub>
                            <m:r>
                              <m:t>t</m:t>
                            </m:r>
                            <m:r>
                              <m:rPr>
                                <m:sty m:val="p"/>
                              </m:rPr>
                              <m:t>∩</m:t>
                            </m:r>
                            <m:r>
                              <m:t>S</m:t>
                            </m:r>
                          </m:sub>
                        </m:sSub>
                        <m:r>
                          <m:rPr>
                            <m:sty m:val="p"/>
                          </m:rPr>
                          <m:t>,</m:t>
                        </m:r>
                        <m:r>
                          <m:t> </m:t>
                        </m:r>
                        <m:sSub>
                          <m:e>
                            <m:r>
                              <m:t>X</m:t>
                            </m:r>
                          </m:e>
                          <m:sub>
                            <m:r>
                              <m:t>t</m:t>
                            </m:r>
                            <m:r>
                              <m:rPr>
                                <m:sty m:val="p"/>
                              </m:rPr>
                              <m:t>\</m:t>
                            </m:r>
                            <m:r>
                              <m:t>S</m:t>
                            </m:r>
                          </m:sub>
                        </m:sSub>
                      </m:e>
                    </m:d>
                  </m:oMath>
                </a14:m>
                <a:r>
                  <a:rPr/>
                  <a:t> — a function of the book.</a:t>
                </a:r>
              </a:p>
              <a:p>
                <a:pPr lvl="0" indent="0" marL="0">
                  <a:buNone/>
                </a:pPr>
                <a:r>
                  <a:rPr/>
                  <a:t>Inclusion–exclusion gives the </a:t>
                </a:r>
                <a14:m>
                  <m:oMath xmlns:m="http://schemas.openxmlformats.org/officeDocument/2006/math">
                    <m:r>
                      <m:t>S</m:t>
                    </m:r>
                  </m:oMath>
                </a14:m>
                <a:r>
                  <a:rPr/>
                  <a:t>-specific part — the same formula for any “remove” rule:</a:t>
                </a:r>
              </a:p>
              <a:p>
                <a:pPr lvl="0" indent="0" marL="0">
                  <a:buNone/>
                </a:pPr>
                <a14:m>
                  <m:oMathPara xmlns:m="http://schemas.openxmlformats.org/officeDocument/2006/math">
                    <m:oMathParaPr>
                      <m:jc m:val="center"/>
                    </m:oMathParaPr>
                    <m:oMath>
                      <m:sSub>
                        <m:e>
                          <m:r>
                            <m:t>g</m:t>
                          </m:r>
                        </m:e>
                        <m:sub>
                          <m:r>
                            <m:t>S</m:t>
                          </m:r>
                        </m:sub>
                      </m:sSub>
                      <m:d>
                        <m:dPr>
                          <m:begChr m:val="("/>
                          <m:sepChr m:val=""/>
                          <m:endChr m:val=")"/>
                          <m:grow/>
                        </m:dPr>
                        <m:e>
                          <m:sSub>
                            <m:e>
                              <m:r>
                                <m:t>z</m:t>
                              </m:r>
                            </m:e>
                            <m:sub>
                              <m:r>
                                <m:t>S</m:t>
                              </m:r>
                            </m:sub>
                          </m:sSub>
                        </m:e>
                      </m:d>
                      <m:r>
                        <m:t> </m:t>
                      </m:r>
                      <m:r>
                        <m:rPr>
                          <m:sty m:val="p"/>
                        </m:rPr>
                        <m:t>=</m:t>
                      </m:r>
                      <m:r>
                        <m:t> </m:t>
                      </m:r>
                      <m:nary>
                        <m:naryPr>
                          <m:chr m:val="∑"/>
                          <m:limLoc m:val="undOvr"/>
                          <m:subHide m:val="off"/>
                          <m:supHide m:val="on"/>
                        </m:naryPr>
                        <m:sub>
                          <m:r>
                            <m:t>T</m:t>
                          </m:r>
                          <m:r>
                            <m:rPr>
                              <m:sty m:val="p"/>
                            </m:rPr>
                            <m:t>⊆</m:t>
                          </m:r>
                          <m:r>
                            <m:t>S</m:t>
                          </m:r>
                        </m:sub>
                        <m:sup>
                          <m:r>
                            <m:t>​</m:t>
                          </m:r>
                        </m:sup>
                        <m:e>
                          <m:sSup>
                            <m:e>
                              <m:d>
                                <m:dPr>
                                  <m:begChr m:val="("/>
                                  <m:sepChr m:val=""/>
                                  <m:endChr m:val=")"/>
                                  <m:grow/>
                                </m:dPr>
                                <m:e>
                                  <m:r>
                                    <m:rPr>
                                      <m:sty m:val="p"/>
                                    </m:rPr>
                                    <m:t>−</m:t>
                                  </m:r>
                                  <m:r>
                                    <m:t>1</m:t>
                                  </m:r>
                                </m:e>
                              </m:d>
                            </m:e>
                            <m:sup>
                              <m:d>
                                <m:dPr>
                                  <m:begChr m:val="|"/>
                                  <m:sepChr m:val=""/>
                                  <m:endChr m:val="|"/>
                                  <m:grow/>
                                </m:dPr>
                                <m:e>
                                  <m:r>
                                    <m:t>S</m:t>
                                  </m:r>
                                  <m:r>
                                    <m:rPr>
                                      <m:sty m:val="p"/>
                                    </m:rPr>
                                    <m:t>\</m:t>
                                  </m:r>
                                  <m:r>
                                    <m:t>T</m:t>
                                  </m:r>
                                </m:e>
                              </m:d>
                            </m:sup>
                          </m:sSup>
                        </m:e>
                      </m:nary>
                      <m:r>
                        <m:t> </m:t>
                      </m:r>
                      <m:sSub>
                        <m:e>
                          <m:r>
                            <m:t>M</m:t>
                          </m:r>
                        </m:e>
                        <m:sub>
                          <m:r>
                            <m:t>T</m:t>
                          </m:r>
                        </m:sub>
                      </m:sSub>
                      <m:d>
                        <m:dPr>
                          <m:begChr m:val="("/>
                          <m:sepChr m:val=""/>
                          <m:endChr m:val=")"/>
                          <m:grow/>
                        </m:dPr>
                        <m:e>
                          <m:sSub>
                            <m:e>
                              <m:r>
                                <m:t>z</m:t>
                              </m:r>
                            </m:e>
                            <m:sub>
                              <m:r>
                                <m:t>T</m:t>
                              </m:r>
                            </m:sub>
                          </m:sSub>
                        </m:e>
                      </m:d>
                    </m:oMath>
                  </m:oMathPara>
                </a14:m>
              </a:p>
              <a:p>
                <a:pPr lvl="0"/>
                <a:r>
                  <a:rPr/>
                  <a:t>Remove = </a:t>
                </a:r>
                <a:r>
                  <a:rPr i="1"/>
                  <a:t>average over the book</a:t>
                </a:r>
                <a:r>
                  <a:rPr/>
                  <a:t>: product reproduces the model; the main-effect / interaction split depends on the mix.</a:t>
                </a:r>
              </a:p>
              <a:p>
                <a:pPr lvl="0"/>
                <a:r>
                  <a:rPr/>
                  <a:t>Remove = </a:t>
                </a:r>
                <a:r>
                  <a:rPr i="1"/>
                  <a:t>set to the base cell</a:t>
                </a:r>
                <a:r>
                  <a:rPr/>
                  <a:t>, </a:t>
                </a:r>
                <a14:m>
                  <m:oMath xmlns:m="http://schemas.openxmlformats.org/officeDocument/2006/math">
                    <m:sSub>
                      <m:e>
                        <m:r>
                          <m:t>M</m:t>
                        </m:r>
                      </m:e>
                      <m:sub>
                        <m:r>
                          <m:t>T</m:t>
                        </m:r>
                      </m:sub>
                    </m:sSub>
                    <m:d>
                      <m:dPr>
                        <m:begChr m:val="("/>
                        <m:sepChr m:val=""/>
                        <m:endChr m:val=")"/>
                        <m:grow/>
                      </m:dPr>
                      <m:e>
                        <m:sSub>
                          <m:e>
                            <m:r>
                              <m:t>z</m:t>
                            </m:r>
                          </m:e>
                          <m:sub>
                            <m:r>
                              <m:t>T</m:t>
                            </m:r>
                          </m:sub>
                        </m:sSub>
                      </m:e>
                    </m:d>
                    <m:r>
                      <m:rPr>
                        <m:sty m:val="p"/>
                      </m:rPr>
                      <m:t>=</m:t>
                    </m:r>
                    <m:r>
                      <m:t>F</m:t>
                    </m:r>
                    <m:d>
                      <m:dPr>
                        <m:begChr m:val="("/>
                        <m:sepChr m:val=""/>
                        <m:endChr m:val=")"/>
                        <m:grow/>
                      </m:dPr>
                      <m:e>
                        <m:sSub>
                          <m:e>
                            <m:r>
                              <m:t>z</m:t>
                            </m:r>
                          </m:e>
                          <m:sub>
                            <m:r>
                              <m:t>T</m:t>
                            </m:r>
                          </m:sub>
                        </m:sSub>
                        <m:r>
                          <m:rPr>
                            <m:sty m:val="p"/>
                          </m:rPr>
                          <m:t>,</m:t>
                        </m:r>
                        <m:sSubSup>
                          <m:e>
                            <m:r>
                              <m:t>x</m:t>
                            </m:r>
                          </m:e>
                          <m:sub>
                            <m:r>
                              <m:rPr>
                                <m:sty m:val="p"/>
                              </m:rPr>
                              <m:t>−</m:t>
                            </m:r>
                            <m:r>
                              <m:t>T</m:t>
                            </m:r>
                          </m:sub>
                          <m:sup>
                            <m:r>
                              <m:t>0</m:t>
                            </m:r>
                          </m:sup>
                        </m:sSubSup>
                      </m:e>
                    </m:d>
                  </m:oMath>
                </a14:m>
                <a:r>
                  <a:rPr/>
                  <a:t>: product reproduces the model, mix-free, and the </a:t>
                </a:r>
                <a14:m>
                  <m:oMath xmlns:m="http://schemas.openxmlformats.org/officeDocument/2006/math">
                    <m:sSub>
                      <m:e>
                        <m:r>
                          <m:t>g</m:t>
                        </m:r>
                      </m:e>
                      <m:sub>
                        <m:r>
                          <m:t>S</m:t>
                        </m:r>
                      </m:sub>
                    </m:sSub>
                  </m:oMath>
                </a14:m>
                <a:r>
                  <a:rPr/>
                  <a:t> are exactly the treatment-coded coefficients.</a:t>
                </a:r>
              </a:p>
              <a:p>
                <a:pPr lvl="0"/>
                <a14:m>
                  <m:oMath xmlns:m="http://schemas.openxmlformats.org/officeDocument/2006/math">
                    <m:sSub>
                      <m:e>
                        <m:r>
                          <m:t>g</m:t>
                        </m:r>
                      </m:e>
                      <m:sub>
                        <m:r>
                          <m:t>S</m:t>
                        </m:r>
                      </m:sub>
                    </m:sSub>
                    <m:r>
                      <m:rPr>
                        <m:sty m:val="p"/>
                      </m:rPr>
                      <m:t>=</m:t>
                    </m:r>
                    <m:r>
                      <m:t>0</m:t>
                    </m:r>
                  </m:oMath>
                </a14:m>
                <a:r>
                  <a:rPr/>
                  <a:t> unless </a:t>
                </a:r>
                <a14:m>
                  <m:oMath xmlns:m="http://schemas.openxmlformats.org/officeDocument/2006/math">
                    <m:r>
                      <m:t>S</m:t>
                    </m:r>
                  </m:oMath>
                </a14:m>
                <a:r>
                  <a:rPr/>
                  <a:t> lies inside some model term — only subsets of actual terms need tables.</a:t>
                </a:r>
              </a:p>
            </p:txBody>
          </p:sp>
        </mc:Choice>
      </mc:AlternateContent>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code behind the example</a:t>
            </a:r>
          </a:p>
        </p:txBody>
      </p:sp>
      <p:sp>
        <p:nvSpPr>
          <p:cNvPr id="3" name="Content Placeholder 2"/>
          <p:cNvSpPr>
            <a:spLocks noGrp="1"/>
          </p:cNvSpPr>
          <p:nvPr>
            <p:ph idx="1"/>
          </p:nvPr>
        </p:nvSpPr>
        <p:spPr/>
        <p:txBody>
          <a:bodyPr/>
          <a:lstStyle/>
          <a:p>
            <a:pPr lvl="0" indent="0">
              <a:buNone/>
            </a:pPr>
            <a:r>
              <a:rPr>
                <a:solidFill>
                  <a:srgbClr val="06287E"/>
                </a:solidFill>
                <a:latin typeface="Courier"/>
              </a:rPr>
              <a:t>library</a:t>
            </a:r>
            <a:r>
              <a:rPr>
                <a:latin typeface="Courier"/>
              </a:rPr>
              <a:t>(dplyr)</a:t>
            </a:r>
            <a:br/>
            <a:br/>
            <a:r>
              <a:rPr>
                <a:latin typeface="Courier"/>
              </a:rPr>
              <a:t>cells </a:t>
            </a:r>
            <a:r>
              <a:rPr>
                <a:solidFill>
                  <a:srgbClr val="007020"/>
                </a:solidFill>
                <a:latin typeface="Courier"/>
              </a:rPr>
              <a:t>&lt;-</a:t>
            </a:r>
            <a:r>
              <a:rPr>
                <a:latin typeface="Courier"/>
              </a:rPr>
              <a:t> </a:t>
            </a:r>
            <a:r>
              <a:rPr>
                <a:solidFill>
                  <a:srgbClr val="06287E"/>
                </a:solidFill>
                <a:latin typeface="Courier"/>
              </a:rPr>
              <a:t>tibble</a:t>
            </a:r>
            <a:r>
              <a:rPr>
                <a:latin typeface="Courier"/>
              </a:rPr>
              <a:t>(</a:t>
            </a:r>
            <a:r>
              <a:rPr>
                <a:solidFill>
                  <a:srgbClr val="7D9029"/>
                </a:solidFill>
                <a:latin typeface="Courier"/>
              </a:rPr>
              <a:t>breed =</a:t>
            </a:r>
            <a:r>
              <a:rPr>
                <a:latin typeface="Courier"/>
              </a:rPr>
              <a:t> </a:t>
            </a:r>
            <a:r>
              <a:rPr>
                <a:solidFill>
                  <a:srgbClr val="06287E"/>
                </a:solidFill>
                <a:latin typeface="Courier"/>
              </a:rPr>
              <a:t>c</a:t>
            </a:r>
            <a:r>
              <a:rPr>
                <a:latin typeface="Courier"/>
              </a:rPr>
              <a:t>(</a:t>
            </a:r>
            <a:r>
              <a:rPr>
                <a:solidFill>
                  <a:srgbClr val="4070A0"/>
                </a:solidFill>
                <a:latin typeface="Courier"/>
              </a:rPr>
              <a:t>"A"</a:t>
            </a:r>
            <a:r>
              <a:rPr>
                <a:latin typeface="Courier"/>
              </a:rPr>
              <a:t>, </a:t>
            </a:r>
            <a:r>
              <a:rPr>
                <a:solidFill>
                  <a:srgbClr val="4070A0"/>
                </a:solidFill>
                <a:latin typeface="Courier"/>
              </a:rPr>
              <a:t>"A"</a:t>
            </a:r>
            <a:r>
              <a:rPr>
                <a:latin typeface="Courier"/>
              </a:rPr>
              <a:t>, </a:t>
            </a:r>
            <a:r>
              <a:rPr>
                <a:solidFill>
                  <a:srgbClr val="4070A0"/>
                </a:solidFill>
                <a:latin typeface="Courier"/>
              </a:rPr>
              <a:t>"B"</a:t>
            </a:r>
            <a:r>
              <a:rPr>
                <a:latin typeface="Courier"/>
              </a:rPr>
              <a:t>, </a:t>
            </a:r>
            <a:r>
              <a:rPr>
                <a:solidFill>
                  <a:srgbClr val="4070A0"/>
                </a:solidFill>
                <a:latin typeface="Courier"/>
              </a:rPr>
              <a:t>"B"</a:t>
            </a:r>
            <a:r>
              <a:rPr>
                <a:latin typeface="Courier"/>
              </a:rPr>
              <a:t>),</a:t>
            </a:r>
            <a:br/>
            <a:r>
              <a:rPr>
                <a:latin typeface="Courier"/>
              </a:rPr>
              <a:t>                </a:t>
            </a:r>
            <a:r>
              <a:rPr>
                <a:solidFill>
                  <a:srgbClr val="7D9029"/>
                </a:solidFill>
                <a:latin typeface="Courier"/>
              </a:rPr>
              <a:t>age   =</a:t>
            </a:r>
            <a:r>
              <a:rPr>
                <a:latin typeface="Courier"/>
              </a:rPr>
              <a:t> </a:t>
            </a:r>
            <a:r>
              <a:rPr>
                <a:solidFill>
                  <a:srgbClr val="06287E"/>
                </a:solidFill>
                <a:latin typeface="Courier"/>
              </a:rPr>
              <a:t>c</a:t>
            </a:r>
            <a:r>
              <a:rPr>
                <a:latin typeface="Courier"/>
              </a:rPr>
              <a:t>(</a:t>
            </a:r>
            <a:r>
              <a:rPr>
                <a:solidFill>
                  <a:srgbClr val="4070A0"/>
                </a:solidFill>
                <a:latin typeface="Courier"/>
              </a:rPr>
              <a:t>"young"</a:t>
            </a:r>
            <a:r>
              <a:rPr>
                <a:latin typeface="Courier"/>
              </a:rPr>
              <a:t>, </a:t>
            </a:r>
            <a:r>
              <a:rPr>
                <a:solidFill>
                  <a:srgbClr val="4070A0"/>
                </a:solidFill>
                <a:latin typeface="Courier"/>
              </a:rPr>
              <a:t>"old"</a:t>
            </a:r>
            <a:r>
              <a:rPr>
                <a:latin typeface="Courier"/>
              </a:rPr>
              <a:t>, </a:t>
            </a:r>
            <a:r>
              <a:rPr>
                <a:solidFill>
                  <a:srgbClr val="4070A0"/>
                </a:solidFill>
                <a:latin typeface="Courier"/>
              </a:rPr>
              <a:t>"young"</a:t>
            </a:r>
            <a:r>
              <a:rPr>
                <a:latin typeface="Courier"/>
              </a:rPr>
              <a:t>, </a:t>
            </a:r>
            <a:r>
              <a:rPr>
                <a:solidFill>
                  <a:srgbClr val="4070A0"/>
                </a:solidFill>
                <a:latin typeface="Courier"/>
              </a:rPr>
              <a:t>"old"</a:t>
            </a:r>
            <a:r>
              <a:rPr>
                <a:latin typeface="Courier"/>
              </a:rPr>
              <a:t>),</a:t>
            </a:r>
            <a:br/>
            <a:r>
              <a:rPr>
                <a:latin typeface="Courier"/>
              </a:rPr>
              <a:t>                </a:t>
            </a:r>
            <a:r>
              <a:rPr>
                <a:solidFill>
                  <a:srgbClr val="7D9029"/>
                </a:solidFill>
                <a:latin typeface="Courier"/>
              </a:rPr>
              <a:t>mu    =</a:t>
            </a:r>
            <a:r>
              <a:rPr>
                <a:latin typeface="Courier"/>
              </a:rPr>
              <a:t> </a:t>
            </a:r>
            <a:r>
              <a:rPr>
                <a:solidFill>
                  <a:srgbClr val="06287E"/>
                </a:solidFill>
                <a:latin typeface="Courier"/>
              </a:rPr>
              <a:t>c</a:t>
            </a:r>
            <a:r>
              <a:rPr>
                <a:latin typeface="Courier"/>
              </a:rPr>
              <a:t>(</a:t>
            </a:r>
            <a:r>
              <a:rPr>
                <a:solidFill>
                  <a:srgbClr val="40A070"/>
                </a:solidFill>
                <a:latin typeface="Courier"/>
              </a:rPr>
              <a:t>1.00</a:t>
            </a:r>
            <a:r>
              <a:rPr>
                <a:latin typeface="Courier"/>
              </a:rPr>
              <a:t>, </a:t>
            </a:r>
            <a:r>
              <a:rPr>
                <a:solidFill>
                  <a:srgbClr val="40A070"/>
                </a:solidFill>
                <a:latin typeface="Courier"/>
              </a:rPr>
              <a:t>1.20</a:t>
            </a:r>
            <a:r>
              <a:rPr>
                <a:latin typeface="Courier"/>
              </a:rPr>
              <a:t>, </a:t>
            </a:r>
            <a:r>
              <a:rPr>
                <a:solidFill>
                  <a:srgbClr val="40A070"/>
                </a:solidFill>
                <a:latin typeface="Courier"/>
              </a:rPr>
              <a:t>1.50</a:t>
            </a:r>
            <a:r>
              <a:rPr>
                <a:latin typeface="Courier"/>
              </a:rPr>
              <a:t>, </a:t>
            </a:r>
            <a:r>
              <a:rPr>
                <a:solidFill>
                  <a:srgbClr val="40A070"/>
                </a:solidFill>
                <a:latin typeface="Courier"/>
              </a:rPr>
              <a:t>2.70</a:t>
            </a:r>
            <a:r>
              <a:rPr>
                <a:latin typeface="Courier"/>
              </a:rPr>
              <a:t>))</a:t>
            </a:r>
            <a:br/>
            <a:br/>
            <a:r>
              <a:rPr>
                <a:latin typeface="Courier"/>
              </a:rPr>
              <a:t>book </a:t>
            </a:r>
            <a:r>
              <a:rPr>
                <a:solidFill>
                  <a:srgbClr val="007020"/>
                </a:solidFill>
                <a:latin typeface="Courier"/>
              </a:rPr>
              <a:t>&lt;-</a:t>
            </a:r>
            <a:r>
              <a:rPr>
                <a:latin typeface="Courier"/>
              </a:rPr>
              <a:t> </a:t>
            </a:r>
            <a:r>
              <a:rPr b="1">
                <a:solidFill>
                  <a:srgbClr val="007020"/>
                </a:solidFill>
                <a:latin typeface="Courier"/>
              </a:rPr>
              <a:t>function</a:t>
            </a:r>
            <a:r>
              <a:rPr>
                <a:latin typeface="Courier"/>
              </a:rPr>
              <a:t>(p_old_A, p_old_B)</a:t>
            </a:r>
            <a:br/>
            <a:r>
              <a:rPr>
                <a:latin typeface="Courier"/>
              </a:rPr>
              <a:t>  </a:t>
            </a:r>
            <a:r>
              <a:rPr>
                <a:solidFill>
                  <a:srgbClr val="06287E"/>
                </a:solidFill>
                <a:latin typeface="Courier"/>
              </a:rPr>
              <a:t>tibble</a:t>
            </a:r>
            <a:r>
              <a:rPr>
                <a:latin typeface="Courier"/>
              </a:rPr>
              <a:t>(</a:t>
            </a:r>
            <a:r>
              <a:rPr>
                <a:solidFill>
                  <a:srgbClr val="7D9029"/>
                </a:solidFill>
                <a:latin typeface="Courier"/>
              </a:rPr>
              <a:t>breed =</a:t>
            </a:r>
            <a:r>
              <a:rPr>
                <a:latin typeface="Courier"/>
              </a:rPr>
              <a:t> </a:t>
            </a:r>
            <a:r>
              <a:rPr>
                <a:solidFill>
                  <a:srgbClr val="06287E"/>
                </a:solidFill>
                <a:latin typeface="Courier"/>
              </a:rPr>
              <a:t>c</a:t>
            </a:r>
            <a:r>
              <a:rPr>
                <a:latin typeface="Courier"/>
              </a:rPr>
              <a:t>(</a:t>
            </a:r>
            <a:r>
              <a:rPr>
                <a:solidFill>
                  <a:srgbClr val="4070A0"/>
                </a:solidFill>
                <a:latin typeface="Courier"/>
              </a:rPr>
              <a:t>"A"</a:t>
            </a:r>
            <a:r>
              <a:rPr>
                <a:latin typeface="Courier"/>
              </a:rPr>
              <a:t>, </a:t>
            </a:r>
            <a:r>
              <a:rPr>
                <a:solidFill>
                  <a:srgbClr val="4070A0"/>
                </a:solidFill>
                <a:latin typeface="Courier"/>
              </a:rPr>
              <a:t>"A"</a:t>
            </a:r>
            <a:r>
              <a:rPr>
                <a:latin typeface="Courier"/>
              </a:rPr>
              <a:t>, </a:t>
            </a:r>
            <a:r>
              <a:rPr>
                <a:solidFill>
                  <a:srgbClr val="4070A0"/>
                </a:solidFill>
                <a:latin typeface="Courier"/>
              </a:rPr>
              <a:t>"B"</a:t>
            </a:r>
            <a:r>
              <a:rPr>
                <a:latin typeface="Courier"/>
              </a:rPr>
              <a:t>, </a:t>
            </a:r>
            <a:r>
              <a:rPr>
                <a:solidFill>
                  <a:srgbClr val="4070A0"/>
                </a:solidFill>
                <a:latin typeface="Courier"/>
              </a:rPr>
              <a:t>"B"</a:t>
            </a:r>
            <a:r>
              <a:rPr>
                <a:latin typeface="Courier"/>
              </a:rPr>
              <a:t>),</a:t>
            </a:r>
            <a:br/>
            <a:r>
              <a:rPr>
                <a:latin typeface="Courier"/>
              </a:rPr>
              <a:t>         </a:t>
            </a:r>
            <a:r>
              <a:rPr>
                <a:solidFill>
                  <a:srgbClr val="7D9029"/>
                </a:solidFill>
                <a:latin typeface="Courier"/>
              </a:rPr>
              <a:t>age   =</a:t>
            </a:r>
            <a:r>
              <a:rPr>
                <a:latin typeface="Courier"/>
              </a:rPr>
              <a:t> </a:t>
            </a:r>
            <a:r>
              <a:rPr>
                <a:solidFill>
                  <a:srgbClr val="06287E"/>
                </a:solidFill>
                <a:latin typeface="Courier"/>
              </a:rPr>
              <a:t>c</a:t>
            </a:r>
            <a:r>
              <a:rPr>
                <a:latin typeface="Courier"/>
              </a:rPr>
              <a:t>(</a:t>
            </a:r>
            <a:r>
              <a:rPr>
                <a:solidFill>
                  <a:srgbClr val="4070A0"/>
                </a:solidFill>
                <a:latin typeface="Courier"/>
              </a:rPr>
              <a:t>"young"</a:t>
            </a:r>
            <a:r>
              <a:rPr>
                <a:latin typeface="Courier"/>
              </a:rPr>
              <a:t>, </a:t>
            </a:r>
            <a:r>
              <a:rPr>
                <a:solidFill>
                  <a:srgbClr val="4070A0"/>
                </a:solidFill>
                <a:latin typeface="Courier"/>
              </a:rPr>
              <a:t>"old"</a:t>
            </a:r>
            <a:r>
              <a:rPr>
                <a:latin typeface="Courier"/>
              </a:rPr>
              <a:t>, </a:t>
            </a:r>
            <a:r>
              <a:rPr>
                <a:solidFill>
                  <a:srgbClr val="4070A0"/>
                </a:solidFill>
                <a:latin typeface="Courier"/>
              </a:rPr>
              <a:t>"young"</a:t>
            </a:r>
            <a:r>
              <a:rPr>
                <a:latin typeface="Courier"/>
              </a:rPr>
              <a:t>, </a:t>
            </a:r>
            <a:r>
              <a:rPr>
                <a:solidFill>
                  <a:srgbClr val="4070A0"/>
                </a:solidFill>
                <a:latin typeface="Courier"/>
              </a:rPr>
              <a:t>"old"</a:t>
            </a:r>
            <a:r>
              <a:rPr>
                <a:latin typeface="Courier"/>
              </a:rPr>
              <a:t>),</a:t>
            </a:r>
            <a:br/>
            <a:r>
              <a:rPr>
                <a:latin typeface="Courier"/>
              </a:rPr>
              <a:t>         </a:t>
            </a:r>
            <a:r>
              <a:rPr>
                <a:solidFill>
                  <a:srgbClr val="7D9029"/>
                </a:solidFill>
                <a:latin typeface="Courier"/>
              </a:rPr>
              <a:t>w     =</a:t>
            </a:r>
            <a:r>
              <a:rPr>
                <a:latin typeface="Courier"/>
              </a:rPr>
              <a:t> </a:t>
            </a:r>
            <a:r>
              <a:rPr>
                <a:solidFill>
                  <a:srgbClr val="06287E"/>
                </a:solidFill>
                <a:latin typeface="Courier"/>
              </a:rPr>
              <a:t>c</a:t>
            </a:r>
            <a:r>
              <a:rPr>
                <a:latin typeface="Courier"/>
              </a:rPr>
              <a:t>(</a:t>
            </a:r>
            <a:r>
              <a:rPr>
                <a:solidFill>
                  <a:srgbClr val="40A070"/>
                </a:solidFill>
                <a:latin typeface="Courier"/>
              </a:rPr>
              <a:t>1</a:t>
            </a:r>
            <a:r>
              <a:rPr>
                <a:latin typeface="Courier"/>
              </a:rPr>
              <a:t> </a:t>
            </a:r>
            <a:r>
              <a:rPr>
                <a:solidFill>
                  <a:srgbClr val="4070A0"/>
                </a:solidFill>
                <a:latin typeface="Courier"/>
              </a:rPr>
              <a:t>-</a:t>
            </a:r>
            <a:r>
              <a:rPr>
                <a:latin typeface="Courier"/>
              </a:rPr>
              <a:t> p_old_A, p_old_A, </a:t>
            </a:r>
            <a:r>
              <a:rPr>
                <a:solidFill>
                  <a:srgbClr val="40A070"/>
                </a:solidFill>
                <a:latin typeface="Courier"/>
              </a:rPr>
              <a:t>1</a:t>
            </a:r>
            <a:r>
              <a:rPr>
                <a:latin typeface="Courier"/>
              </a:rPr>
              <a:t> </a:t>
            </a:r>
            <a:r>
              <a:rPr>
                <a:solidFill>
                  <a:srgbClr val="4070A0"/>
                </a:solidFill>
                <a:latin typeface="Courier"/>
              </a:rPr>
              <a:t>-</a:t>
            </a:r>
            <a:r>
              <a:rPr>
                <a:latin typeface="Courier"/>
              </a:rPr>
              <a:t> p_old_B, p_old_B) </a:t>
            </a:r>
            <a:r>
              <a:rPr>
                <a:solidFill>
                  <a:srgbClr val="4070A0"/>
                </a:solidFill>
                <a:latin typeface="Courier"/>
              </a:rPr>
              <a:t>/</a:t>
            </a:r>
            <a:r>
              <a:rPr>
                <a:latin typeface="Courier"/>
              </a:rPr>
              <a:t> </a:t>
            </a:r>
            <a:r>
              <a:rPr>
                <a:solidFill>
                  <a:srgbClr val="40A070"/>
                </a:solidFill>
                <a:latin typeface="Courier"/>
              </a:rPr>
              <a:t>2</a:t>
            </a:r>
            <a:r>
              <a:rPr>
                <a:latin typeface="Courier"/>
              </a:rPr>
              <a:t>)</a:t>
            </a:r>
            <a:br/>
            <a:br/>
            <a:r>
              <a:rPr i="1">
                <a:solidFill>
                  <a:srgbClr val="60A0B0"/>
                </a:solidFill>
                <a:latin typeface="Courier"/>
              </a:rPr>
              <a:t># one-way: weighted mean loss cost by breed, B over A</a:t>
            </a:r>
            <a:br/>
            <a:r>
              <a:rPr>
                <a:latin typeface="Courier"/>
              </a:rPr>
              <a:t>one_way </a:t>
            </a:r>
            <a:r>
              <a:rPr>
                <a:solidFill>
                  <a:srgbClr val="007020"/>
                </a:solidFill>
                <a:latin typeface="Courier"/>
              </a:rPr>
              <a:t>&lt;-</a:t>
            </a:r>
            <a:r>
              <a:rPr>
                <a:latin typeface="Courier"/>
              </a:rPr>
              <a:t> </a:t>
            </a:r>
            <a:r>
              <a:rPr b="1">
                <a:solidFill>
                  <a:srgbClr val="007020"/>
                </a:solidFill>
                <a:latin typeface="Courier"/>
              </a:rPr>
              <a:t>function</a:t>
            </a:r>
            <a:r>
              <a:rPr>
                <a:latin typeface="Courier"/>
              </a:rPr>
              <a:t>(bk) bk </a:t>
            </a:r>
            <a:r>
              <a:rPr>
                <a:solidFill>
                  <a:srgbClr val="4070A0"/>
                </a:solidFill>
                <a:latin typeface="Courier"/>
              </a:rPr>
              <a:t>|&gt;</a:t>
            </a:r>
            <a:br/>
            <a:r>
              <a:rPr>
                <a:latin typeface="Courier"/>
              </a:rPr>
              <a:t>  </a:t>
            </a:r>
            <a:r>
              <a:rPr>
                <a:solidFill>
                  <a:srgbClr val="06287E"/>
                </a:solidFill>
                <a:latin typeface="Courier"/>
              </a:rPr>
              <a:t>inner_join</a:t>
            </a:r>
            <a:r>
              <a:rPr>
                <a:latin typeface="Courier"/>
              </a:rPr>
              <a:t>(cells, </a:t>
            </a:r>
            <a:r>
              <a:rPr>
                <a:solidFill>
                  <a:srgbClr val="7D9029"/>
                </a:solidFill>
                <a:latin typeface="Courier"/>
              </a:rPr>
              <a:t>by =</a:t>
            </a:r>
            <a:r>
              <a:rPr>
                <a:latin typeface="Courier"/>
              </a:rPr>
              <a:t> </a:t>
            </a:r>
            <a:r>
              <a:rPr>
                <a:solidFill>
                  <a:srgbClr val="06287E"/>
                </a:solidFill>
                <a:latin typeface="Courier"/>
              </a:rPr>
              <a:t>c</a:t>
            </a:r>
            <a:r>
              <a:rPr>
                <a:latin typeface="Courier"/>
              </a:rPr>
              <a:t>(</a:t>
            </a:r>
            <a:r>
              <a:rPr>
                <a:solidFill>
                  <a:srgbClr val="4070A0"/>
                </a:solidFill>
                <a:latin typeface="Courier"/>
              </a:rPr>
              <a:t>"breed"</a:t>
            </a:r>
            <a:r>
              <a:rPr>
                <a:latin typeface="Courier"/>
              </a:rPr>
              <a:t>, </a:t>
            </a:r>
            <a:r>
              <a:rPr>
                <a:solidFill>
                  <a:srgbClr val="4070A0"/>
                </a:solidFill>
                <a:latin typeface="Courier"/>
              </a:rPr>
              <a:t>"age"</a:t>
            </a:r>
            <a:r>
              <a:rPr>
                <a:latin typeface="Courier"/>
              </a:rPr>
              <a:t>)) </a:t>
            </a:r>
            <a:r>
              <a:rPr>
                <a:solidFill>
                  <a:srgbClr val="4070A0"/>
                </a:solidFill>
                <a:latin typeface="Courier"/>
              </a:rPr>
              <a:t>|&gt;</a:t>
            </a:r>
            <a:br/>
            <a:r>
              <a:rPr>
                <a:latin typeface="Courier"/>
              </a:rPr>
              <a:t>  </a:t>
            </a:r>
            <a:r>
              <a:rPr>
                <a:solidFill>
                  <a:srgbClr val="06287E"/>
                </a:solidFill>
                <a:latin typeface="Courier"/>
              </a:rPr>
              <a:t>group_by</a:t>
            </a:r>
            <a:r>
              <a:rPr>
                <a:latin typeface="Courier"/>
              </a:rPr>
              <a:t>(breed) </a:t>
            </a:r>
            <a:r>
              <a:rPr>
                <a:solidFill>
                  <a:srgbClr val="4070A0"/>
                </a:solidFill>
                <a:latin typeface="Courier"/>
              </a:rPr>
              <a:t>|&gt;</a:t>
            </a:r>
            <a:r>
              <a:rPr>
                <a:latin typeface="Courier"/>
              </a:rPr>
              <a:t> </a:t>
            </a:r>
            <a:r>
              <a:rPr>
                <a:solidFill>
                  <a:srgbClr val="06287E"/>
                </a:solidFill>
                <a:latin typeface="Courier"/>
              </a:rPr>
              <a:t>summarise</a:t>
            </a:r>
            <a:r>
              <a:rPr>
                <a:latin typeface="Courier"/>
              </a:rPr>
              <a:t>(</a:t>
            </a:r>
            <a:r>
              <a:rPr>
                <a:solidFill>
                  <a:srgbClr val="7D9029"/>
                </a:solidFill>
                <a:latin typeface="Courier"/>
              </a:rPr>
              <a:t>m =</a:t>
            </a:r>
            <a:r>
              <a:rPr>
                <a:latin typeface="Courier"/>
              </a:rPr>
              <a:t> </a:t>
            </a:r>
            <a:r>
              <a:rPr>
                <a:solidFill>
                  <a:srgbClr val="06287E"/>
                </a:solidFill>
                <a:latin typeface="Courier"/>
              </a:rPr>
              <a:t>sum</a:t>
            </a:r>
            <a:r>
              <a:rPr>
                <a:latin typeface="Courier"/>
              </a:rPr>
              <a:t>(w </a:t>
            </a:r>
            <a:r>
              <a:rPr>
                <a:solidFill>
                  <a:srgbClr val="4070A0"/>
                </a:solidFill>
                <a:latin typeface="Courier"/>
              </a:rPr>
              <a:t>*</a:t>
            </a:r>
            <a:r>
              <a:rPr>
                <a:latin typeface="Courier"/>
              </a:rPr>
              <a:t> mu) </a:t>
            </a:r>
            <a:r>
              <a:rPr>
                <a:solidFill>
                  <a:srgbClr val="4070A0"/>
                </a:solidFill>
                <a:latin typeface="Courier"/>
              </a:rPr>
              <a:t>/</a:t>
            </a:r>
            <a:r>
              <a:rPr>
                <a:latin typeface="Courier"/>
              </a:rPr>
              <a:t> </a:t>
            </a:r>
            <a:r>
              <a:rPr>
                <a:solidFill>
                  <a:srgbClr val="06287E"/>
                </a:solidFill>
                <a:latin typeface="Courier"/>
              </a:rPr>
              <a:t>sum</a:t>
            </a:r>
            <a:r>
              <a:rPr>
                <a:latin typeface="Courier"/>
              </a:rPr>
              <a:t>(w)) </a:t>
            </a:r>
            <a:r>
              <a:rPr>
                <a:solidFill>
                  <a:srgbClr val="4070A0"/>
                </a:solidFill>
                <a:latin typeface="Courier"/>
              </a:rPr>
              <a:t>|&gt;</a:t>
            </a:r>
            <a:br/>
            <a:r>
              <a:rPr>
                <a:latin typeface="Courier"/>
              </a:rPr>
              <a:t>  </a:t>
            </a:r>
            <a:r>
              <a:rPr>
                <a:solidFill>
                  <a:srgbClr val="06287E"/>
                </a:solidFill>
                <a:latin typeface="Courier"/>
              </a:rPr>
              <a:t>with</a:t>
            </a:r>
            <a:r>
              <a:rPr>
                <a:latin typeface="Courier"/>
              </a:rPr>
              <a:t>(m[breed </a:t>
            </a:r>
            <a:r>
              <a:rPr>
                <a:solidFill>
                  <a:srgbClr val="4070A0"/>
                </a:solidFill>
                <a:latin typeface="Courier"/>
              </a:rPr>
              <a:t>==</a:t>
            </a:r>
            <a:r>
              <a:rPr>
                <a:latin typeface="Courier"/>
              </a:rPr>
              <a:t> </a:t>
            </a:r>
            <a:r>
              <a:rPr>
                <a:solidFill>
                  <a:srgbClr val="4070A0"/>
                </a:solidFill>
                <a:latin typeface="Courier"/>
              </a:rPr>
              <a:t>"B"</a:t>
            </a:r>
            <a:r>
              <a:rPr>
                <a:latin typeface="Courier"/>
              </a:rPr>
              <a:t>] </a:t>
            </a:r>
            <a:r>
              <a:rPr>
                <a:solidFill>
                  <a:srgbClr val="4070A0"/>
                </a:solidFill>
                <a:latin typeface="Courier"/>
              </a:rPr>
              <a:t>/</a:t>
            </a:r>
            <a:r>
              <a:rPr>
                <a:latin typeface="Courier"/>
              </a:rPr>
              <a:t> m[breed </a:t>
            </a:r>
            <a:r>
              <a:rPr>
                <a:solidFill>
                  <a:srgbClr val="4070A0"/>
                </a:solidFill>
                <a:latin typeface="Courier"/>
              </a:rPr>
              <a:t>==</a:t>
            </a:r>
            <a:r>
              <a:rPr>
                <a:latin typeface="Courier"/>
              </a:rPr>
              <a:t> </a:t>
            </a:r>
            <a:r>
              <a:rPr>
                <a:solidFill>
                  <a:srgbClr val="4070A0"/>
                </a:solidFill>
                <a:latin typeface="Courier"/>
              </a:rPr>
              <a:t>"A"</a:t>
            </a:r>
            <a:r>
              <a:rPr>
                <a:latin typeface="Courier"/>
              </a:rPr>
              <a:t>])</a:t>
            </a:r>
            <a:br/>
            <a:br/>
            <a:r>
              <a:rPr i="1">
                <a:solidFill>
                  <a:srgbClr val="60A0B0"/>
                </a:solidFill>
                <a:latin typeface="Courier"/>
              </a:rPr>
              <a:t># partial: set breed on every row (mutate), weighted mean of log mu</a:t>
            </a:r>
            <a:br/>
            <a:r>
              <a:rPr>
                <a:latin typeface="Courier"/>
              </a:rPr>
              <a:t>partial </a:t>
            </a:r>
            <a:r>
              <a:rPr>
                <a:solidFill>
                  <a:srgbClr val="007020"/>
                </a:solidFill>
                <a:latin typeface="Courier"/>
              </a:rPr>
              <a:t>&lt;-</a:t>
            </a:r>
            <a:r>
              <a:rPr>
                <a:latin typeface="Courier"/>
              </a:rPr>
              <a:t> </a:t>
            </a:r>
            <a:r>
              <a:rPr b="1">
                <a:solidFill>
                  <a:srgbClr val="007020"/>
                </a:solidFill>
                <a:latin typeface="Courier"/>
              </a:rPr>
              <a:t>function</a:t>
            </a:r>
            <a:r>
              <a:rPr>
                <a:latin typeface="Courier"/>
              </a:rPr>
              <a:t>(bk, z) bk </a:t>
            </a:r>
            <a:r>
              <a:rPr>
                <a:solidFill>
                  <a:srgbClr val="4070A0"/>
                </a:solidFill>
                <a:latin typeface="Courier"/>
              </a:rPr>
              <a:t>|&gt;</a:t>
            </a:r>
            <a:br/>
            <a:r>
              <a:rPr>
                <a:latin typeface="Courier"/>
              </a:rPr>
              <a:t>  </a:t>
            </a:r>
            <a:r>
              <a:rPr>
                <a:solidFill>
                  <a:srgbClr val="06287E"/>
                </a:solidFill>
                <a:latin typeface="Courier"/>
              </a:rPr>
              <a:t>mutate</a:t>
            </a:r>
            <a:r>
              <a:rPr>
                <a:latin typeface="Courier"/>
              </a:rPr>
              <a:t>(</a:t>
            </a:r>
            <a:r>
              <a:rPr>
                <a:solidFill>
                  <a:srgbClr val="7D9029"/>
                </a:solidFill>
                <a:latin typeface="Courier"/>
              </a:rPr>
              <a:t>breed =</a:t>
            </a:r>
            <a:r>
              <a:rPr>
                <a:latin typeface="Courier"/>
              </a:rPr>
              <a:t> z) </a:t>
            </a:r>
            <a:r>
              <a:rPr>
                <a:solidFill>
                  <a:srgbClr val="4070A0"/>
                </a:solidFill>
                <a:latin typeface="Courier"/>
              </a:rPr>
              <a:t>|&gt;</a:t>
            </a:r>
            <a:br/>
            <a:r>
              <a:rPr>
                <a:latin typeface="Courier"/>
              </a:rPr>
              <a:t>  </a:t>
            </a:r>
            <a:r>
              <a:rPr>
                <a:solidFill>
                  <a:srgbClr val="06287E"/>
                </a:solidFill>
                <a:latin typeface="Courier"/>
              </a:rPr>
              <a:t>inner_join</a:t>
            </a:r>
            <a:r>
              <a:rPr>
                <a:latin typeface="Courier"/>
              </a:rPr>
              <a:t>(cells, </a:t>
            </a:r>
            <a:r>
              <a:rPr>
                <a:solidFill>
                  <a:srgbClr val="7D9029"/>
                </a:solidFill>
                <a:latin typeface="Courier"/>
              </a:rPr>
              <a:t>by =</a:t>
            </a:r>
            <a:r>
              <a:rPr>
                <a:latin typeface="Courier"/>
              </a:rPr>
              <a:t> </a:t>
            </a:r>
            <a:r>
              <a:rPr>
                <a:solidFill>
                  <a:srgbClr val="06287E"/>
                </a:solidFill>
                <a:latin typeface="Courier"/>
              </a:rPr>
              <a:t>c</a:t>
            </a:r>
            <a:r>
              <a:rPr>
                <a:latin typeface="Courier"/>
              </a:rPr>
              <a:t>(</a:t>
            </a:r>
            <a:r>
              <a:rPr>
                <a:solidFill>
                  <a:srgbClr val="4070A0"/>
                </a:solidFill>
                <a:latin typeface="Courier"/>
              </a:rPr>
              <a:t>"breed"</a:t>
            </a:r>
            <a:r>
              <a:rPr>
                <a:latin typeface="Courier"/>
              </a:rPr>
              <a:t>, </a:t>
            </a:r>
            <a:r>
              <a:rPr>
                <a:solidFill>
                  <a:srgbClr val="4070A0"/>
                </a:solidFill>
                <a:latin typeface="Courier"/>
              </a:rPr>
              <a:t>"age"</a:t>
            </a:r>
            <a:r>
              <a:rPr>
                <a:latin typeface="Courier"/>
              </a:rPr>
              <a:t>)) </a:t>
            </a:r>
            <a:r>
              <a:rPr>
                <a:solidFill>
                  <a:srgbClr val="4070A0"/>
                </a:solidFill>
                <a:latin typeface="Courier"/>
              </a:rPr>
              <a:t>|&gt;</a:t>
            </a:r>
            <a:br/>
            <a:r>
              <a:rPr>
                <a:latin typeface="Courier"/>
              </a:rPr>
              <a:t>  </a:t>
            </a:r>
            <a:r>
              <a:rPr>
                <a:solidFill>
                  <a:srgbClr val="06287E"/>
                </a:solidFill>
                <a:latin typeface="Courier"/>
              </a:rPr>
              <a:t>summarise</a:t>
            </a:r>
            <a:r>
              <a:rPr>
                <a:latin typeface="Courier"/>
              </a:rPr>
              <a:t>(</a:t>
            </a:r>
            <a:r>
              <a:rPr>
                <a:solidFill>
                  <a:srgbClr val="7D9029"/>
                </a:solidFill>
                <a:latin typeface="Courier"/>
              </a:rPr>
              <a:t>m =</a:t>
            </a:r>
            <a:r>
              <a:rPr>
                <a:latin typeface="Courier"/>
              </a:rPr>
              <a:t> </a:t>
            </a:r>
            <a:r>
              <a:rPr>
                <a:solidFill>
                  <a:srgbClr val="06287E"/>
                </a:solidFill>
                <a:latin typeface="Courier"/>
              </a:rPr>
              <a:t>sum</a:t>
            </a:r>
            <a:r>
              <a:rPr>
                <a:latin typeface="Courier"/>
              </a:rPr>
              <a:t>(w </a:t>
            </a:r>
            <a:r>
              <a:rPr>
                <a:solidFill>
                  <a:srgbClr val="4070A0"/>
                </a:solidFill>
                <a:latin typeface="Courier"/>
              </a:rPr>
              <a:t>*</a:t>
            </a:r>
            <a:r>
              <a:rPr>
                <a:latin typeface="Courier"/>
              </a:rPr>
              <a:t> </a:t>
            </a:r>
            <a:r>
              <a:rPr>
                <a:solidFill>
                  <a:srgbClr val="06287E"/>
                </a:solidFill>
                <a:latin typeface="Courier"/>
              </a:rPr>
              <a:t>log</a:t>
            </a:r>
            <a:r>
              <a:rPr>
                <a:latin typeface="Courier"/>
              </a:rPr>
              <a:t>(mu)) </a:t>
            </a:r>
            <a:r>
              <a:rPr>
                <a:solidFill>
                  <a:srgbClr val="4070A0"/>
                </a:solidFill>
                <a:latin typeface="Courier"/>
              </a:rPr>
              <a:t>/</a:t>
            </a:r>
            <a:r>
              <a:rPr>
                <a:latin typeface="Courier"/>
              </a:rPr>
              <a:t> </a:t>
            </a:r>
            <a:r>
              <a:rPr>
                <a:solidFill>
                  <a:srgbClr val="06287E"/>
                </a:solidFill>
                <a:latin typeface="Courier"/>
              </a:rPr>
              <a:t>sum</a:t>
            </a:r>
            <a:r>
              <a:rPr>
                <a:latin typeface="Courier"/>
              </a:rPr>
              <a:t>(w)) </a:t>
            </a:r>
            <a:r>
              <a:rPr>
                <a:solidFill>
                  <a:srgbClr val="4070A0"/>
                </a:solidFill>
                <a:latin typeface="Courier"/>
              </a:rPr>
              <a:t>|&gt;</a:t>
            </a:r>
            <a:r>
              <a:rPr>
                <a:latin typeface="Courier"/>
              </a:rPr>
              <a:t> </a:t>
            </a:r>
            <a:r>
              <a:rPr>
                <a:solidFill>
                  <a:srgbClr val="06287E"/>
                </a:solidFill>
                <a:latin typeface="Courier"/>
              </a:rPr>
              <a:t>pull</a:t>
            </a:r>
            <a:r>
              <a:rPr>
                <a:latin typeface="Courier"/>
              </a:rPr>
              <a:t>(m)</a:t>
            </a:r>
            <a:br/>
            <a:br/>
            <a:r>
              <a:rPr>
                <a:latin typeface="Courier"/>
              </a:rPr>
              <a:t>pdp_rel </a:t>
            </a:r>
            <a:r>
              <a:rPr>
                <a:solidFill>
                  <a:srgbClr val="007020"/>
                </a:solidFill>
                <a:latin typeface="Courier"/>
              </a:rPr>
              <a:t>&lt;-</a:t>
            </a:r>
            <a:r>
              <a:rPr>
                <a:latin typeface="Courier"/>
              </a:rPr>
              <a:t> </a:t>
            </a:r>
            <a:r>
              <a:rPr b="1">
                <a:solidFill>
                  <a:srgbClr val="007020"/>
                </a:solidFill>
                <a:latin typeface="Courier"/>
              </a:rPr>
              <a:t>function</a:t>
            </a:r>
            <a:r>
              <a:rPr>
                <a:latin typeface="Courier"/>
              </a:rPr>
              <a:t>(bk) </a:t>
            </a:r>
            <a:r>
              <a:rPr>
                <a:solidFill>
                  <a:srgbClr val="06287E"/>
                </a:solidFill>
                <a:latin typeface="Courier"/>
              </a:rPr>
              <a:t>exp</a:t>
            </a:r>
            <a:r>
              <a:rPr>
                <a:latin typeface="Courier"/>
              </a:rPr>
              <a:t>(</a:t>
            </a:r>
            <a:r>
              <a:rPr>
                <a:solidFill>
                  <a:srgbClr val="06287E"/>
                </a:solidFill>
                <a:latin typeface="Courier"/>
              </a:rPr>
              <a:t>partial</a:t>
            </a:r>
            <a:r>
              <a:rPr>
                <a:latin typeface="Courier"/>
              </a:rPr>
              <a:t>(bk, </a:t>
            </a:r>
            <a:r>
              <a:rPr>
                <a:solidFill>
                  <a:srgbClr val="4070A0"/>
                </a:solidFill>
                <a:latin typeface="Courier"/>
              </a:rPr>
              <a:t>"B"</a:t>
            </a:r>
            <a:r>
              <a:rPr>
                <a:latin typeface="Courier"/>
              </a:rPr>
              <a:t>) </a:t>
            </a:r>
            <a:r>
              <a:rPr>
                <a:solidFill>
                  <a:srgbClr val="4070A0"/>
                </a:solidFill>
                <a:latin typeface="Courier"/>
              </a:rPr>
              <a:t>-</a:t>
            </a:r>
            <a:r>
              <a:rPr>
                <a:latin typeface="Courier"/>
              </a:rPr>
              <a:t> </a:t>
            </a:r>
            <a:r>
              <a:rPr>
                <a:solidFill>
                  <a:srgbClr val="06287E"/>
                </a:solidFill>
                <a:latin typeface="Courier"/>
              </a:rPr>
              <a:t>partial</a:t>
            </a:r>
            <a:r>
              <a:rPr>
                <a:latin typeface="Courier"/>
              </a:rPr>
              <a:t>(bk, </a:t>
            </a:r>
            <a:r>
              <a:rPr>
                <a:solidFill>
                  <a:srgbClr val="4070A0"/>
                </a:solidFill>
                <a:latin typeface="Courier"/>
              </a:rPr>
              <a:t>"A"</a:t>
            </a:r>
            <a:r>
              <a:rPr>
                <a:latin typeface="Courier"/>
              </a:rPr>
              <a:t>))</a:t>
            </a:r>
            <a:br/>
            <a:br/>
            <a:r>
              <a:rPr i="1">
                <a:solidFill>
                  <a:srgbClr val="60A0B0"/>
                </a:solidFill>
                <a:latin typeface="Courier"/>
              </a:rPr>
              <a:t># coefficient: everything at the base cell, then breed to B</a:t>
            </a:r>
            <a:br/>
            <a:r>
              <a:rPr>
                <a:latin typeface="Courier"/>
              </a:rPr>
              <a:t>coef_rel </a:t>
            </a:r>
            <a:r>
              <a:rPr>
                <a:solidFill>
                  <a:srgbClr val="007020"/>
                </a:solidFill>
                <a:latin typeface="Courier"/>
              </a:rPr>
              <a:t>&lt;-</a:t>
            </a:r>
            <a:r>
              <a:rPr>
                <a:latin typeface="Courier"/>
              </a:rPr>
              <a:t> </a:t>
            </a:r>
            <a:r>
              <a:rPr>
                <a:solidFill>
                  <a:srgbClr val="06287E"/>
                </a:solidFill>
                <a:latin typeface="Courier"/>
              </a:rPr>
              <a:t>with</a:t>
            </a:r>
            <a:r>
              <a:rPr>
                <a:latin typeface="Courier"/>
              </a:rPr>
              <a:t>(cells, mu[breed </a:t>
            </a:r>
            <a:r>
              <a:rPr>
                <a:solidFill>
                  <a:srgbClr val="4070A0"/>
                </a:solidFill>
                <a:latin typeface="Courier"/>
              </a:rPr>
              <a:t>==</a:t>
            </a:r>
            <a:r>
              <a:rPr>
                <a:latin typeface="Courier"/>
              </a:rPr>
              <a:t> </a:t>
            </a:r>
            <a:r>
              <a:rPr>
                <a:solidFill>
                  <a:srgbClr val="4070A0"/>
                </a:solidFill>
                <a:latin typeface="Courier"/>
              </a:rPr>
              <a:t>"B"</a:t>
            </a:r>
            <a:r>
              <a:rPr>
                <a:latin typeface="Courier"/>
              </a:rPr>
              <a:t> </a:t>
            </a:r>
            <a:r>
              <a:rPr>
                <a:solidFill>
                  <a:srgbClr val="4070A0"/>
                </a:solidFill>
                <a:latin typeface="Courier"/>
              </a:rPr>
              <a:t>&amp;</a:t>
            </a:r>
            <a:r>
              <a:rPr>
                <a:latin typeface="Courier"/>
              </a:rPr>
              <a:t> age </a:t>
            </a:r>
            <a:r>
              <a:rPr>
                <a:solidFill>
                  <a:srgbClr val="4070A0"/>
                </a:solidFill>
                <a:latin typeface="Courier"/>
              </a:rPr>
              <a:t>==</a:t>
            </a:r>
            <a:r>
              <a:rPr>
                <a:latin typeface="Courier"/>
              </a:rPr>
              <a:t> </a:t>
            </a:r>
            <a:r>
              <a:rPr>
                <a:solidFill>
                  <a:srgbClr val="4070A0"/>
                </a:solidFill>
                <a:latin typeface="Courier"/>
              </a:rPr>
              <a:t>"young"</a:t>
            </a:r>
            <a:r>
              <a:rPr>
                <a:latin typeface="Courier"/>
              </a:rPr>
              <a:t>] </a:t>
            </a:r>
            <a:r>
              <a:rPr>
                <a:solidFill>
                  <a:srgbClr val="4070A0"/>
                </a:solidFill>
                <a:latin typeface="Courier"/>
              </a:rPr>
              <a:t>/</a:t>
            </a:r>
            <a:br/>
            <a:r>
              <a:rPr>
                <a:latin typeface="Courier"/>
              </a:rPr>
              <a:t>                        mu[breed </a:t>
            </a:r>
            <a:r>
              <a:rPr>
                <a:solidFill>
                  <a:srgbClr val="4070A0"/>
                </a:solidFill>
                <a:latin typeface="Courier"/>
              </a:rPr>
              <a:t>==</a:t>
            </a:r>
            <a:r>
              <a:rPr>
                <a:latin typeface="Courier"/>
              </a:rPr>
              <a:t> </a:t>
            </a:r>
            <a:r>
              <a:rPr>
                <a:solidFill>
                  <a:srgbClr val="4070A0"/>
                </a:solidFill>
                <a:latin typeface="Courier"/>
              </a:rPr>
              <a:t>"A"</a:t>
            </a:r>
            <a:r>
              <a:rPr>
                <a:latin typeface="Courier"/>
              </a:rPr>
              <a:t> </a:t>
            </a:r>
            <a:r>
              <a:rPr>
                <a:solidFill>
                  <a:srgbClr val="4070A0"/>
                </a:solidFill>
                <a:latin typeface="Courier"/>
              </a:rPr>
              <a:t>&amp;</a:t>
            </a:r>
            <a:r>
              <a:rPr>
                <a:latin typeface="Courier"/>
              </a:rPr>
              <a:t> age </a:t>
            </a:r>
            <a:r>
              <a:rPr>
                <a:solidFill>
                  <a:srgbClr val="4070A0"/>
                </a:solidFill>
                <a:latin typeface="Courier"/>
              </a:rPr>
              <a:t>==</a:t>
            </a:r>
            <a:r>
              <a:rPr>
                <a:latin typeface="Courier"/>
              </a:rPr>
              <a:t> </a:t>
            </a:r>
            <a:r>
              <a:rPr>
                <a:solidFill>
                  <a:srgbClr val="4070A0"/>
                </a:solidFill>
                <a:latin typeface="Courier"/>
              </a:rPr>
              <a:t>"young"</a:t>
            </a:r>
            <a:r>
              <a:rPr>
                <a:latin typeface="Courier"/>
              </a:rPr>
              <a:t>])</a:t>
            </a:r>
            <a:br/>
            <a:br/>
            <a:r>
              <a:rPr>
                <a:latin typeface="Courier"/>
              </a:rPr>
              <a:t>books </a:t>
            </a:r>
            <a:r>
              <a:rPr>
                <a:solidFill>
                  <a:srgbClr val="007020"/>
                </a:solidFill>
                <a:latin typeface="Courier"/>
              </a:rPr>
              <a:t>&lt;-</a:t>
            </a:r>
            <a:r>
              <a:rPr>
                <a:latin typeface="Courier"/>
              </a:rPr>
              <a:t> </a:t>
            </a:r>
            <a:r>
              <a:rPr>
                <a:solidFill>
                  <a:srgbClr val="06287E"/>
                </a:solidFill>
                <a:latin typeface="Courier"/>
              </a:rPr>
              <a:t>list</a:t>
            </a:r>
            <a:r>
              <a:rPr>
                <a:latin typeface="Courier"/>
              </a:rPr>
              <a:t>(</a:t>
            </a:r>
            <a:r>
              <a:rPr>
                <a:solidFill>
                  <a:srgbClr val="06287E"/>
                </a:solidFill>
                <a:latin typeface="Courier"/>
              </a:rPr>
              <a:t>book</a:t>
            </a:r>
            <a:r>
              <a:rPr>
                <a:latin typeface="Courier"/>
              </a:rPr>
              <a:t>(.</a:t>
            </a:r>
            <a:r>
              <a:rPr>
                <a:solidFill>
                  <a:srgbClr val="40A070"/>
                </a:solidFill>
                <a:latin typeface="Courier"/>
              </a:rPr>
              <a:t>2</a:t>
            </a:r>
            <a:r>
              <a:rPr>
                <a:latin typeface="Courier"/>
              </a:rPr>
              <a:t>, .</a:t>
            </a:r>
            <a:r>
              <a:rPr>
                <a:solidFill>
                  <a:srgbClr val="40A070"/>
                </a:solidFill>
                <a:latin typeface="Courier"/>
              </a:rPr>
              <a:t>2</a:t>
            </a:r>
            <a:r>
              <a:rPr>
                <a:latin typeface="Courier"/>
              </a:rPr>
              <a:t>), </a:t>
            </a:r>
            <a:r>
              <a:rPr>
                <a:solidFill>
                  <a:srgbClr val="06287E"/>
                </a:solidFill>
                <a:latin typeface="Courier"/>
              </a:rPr>
              <a:t>book</a:t>
            </a:r>
            <a:r>
              <a:rPr>
                <a:latin typeface="Courier"/>
              </a:rPr>
              <a:t>(.</a:t>
            </a:r>
            <a:r>
              <a:rPr>
                <a:solidFill>
                  <a:srgbClr val="40A070"/>
                </a:solidFill>
                <a:latin typeface="Courier"/>
              </a:rPr>
              <a:t>5</a:t>
            </a:r>
            <a:r>
              <a:rPr>
                <a:latin typeface="Courier"/>
              </a:rPr>
              <a:t>, .</a:t>
            </a:r>
            <a:r>
              <a:rPr>
                <a:solidFill>
                  <a:srgbClr val="40A070"/>
                </a:solidFill>
                <a:latin typeface="Courier"/>
              </a:rPr>
              <a:t>5</a:t>
            </a:r>
            <a:r>
              <a:rPr>
                <a:latin typeface="Courier"/>
              </a:rPr>
              <a:t>), </a:t>
            </a:r>
            <a:r>
              <a:rPr>
                <a:solidFill>
                  <a:srgbClr val="06287E"/>
                </a:solidFill>
                <a:latin typeface="Courier"/>
              </a:rPr>
              <a:t>book</a:t>
            </a:r>
            <a:r>
              <a:rPr>
                <a:latin typeface="Courier"/>
              </a:rPr>
              <a:t>(.</a:t>
            </a:r>
            <a:r>
              <a:rPr>
                <a:solidFill>
                  <a:srgbClr val="40A070"/>
                </a:solidFill>
                <a:latin typeface="Courier"/>
              </a:rPr>
              <a:t>8</a:t>
            </a:r>
            <a:r>
              <a:rPr>
                <a:latin typeface="Courier"/>
              </a:rPr>
              <a:t>, .</a:t>
            </a:r>
            <a:r>
              <a:rPr>
                <a:solidFill>
                  <a:srgbClr val="40A070"/>
                </a:solidFill>
                <a:latin typeface="Courier"/>
              </a:rPr>
              <a:t>8</a:t>
            </a:r>
            <a:r>
              <a:rPr>
                <a:latin typeface="Courier"/>
              </a:rPr>
              <a:t>), </a:t>
            </a:r>
            <a:r>
              <a:rPr>
                <a:solidFill>
                  <a:srgbClr val="06287E"/>
                </a:solidFill>
                <a:latin typeface="Courier"/>
              </a:rPr>
              <a:t>book</a:t>
            </a:r>
            <a:r>
              <a:rPr>
                <a:latin typeface="Courier"/>
              </a:rPr>
              <a:t>(.</a:t>
            </a:r>
            <a:r>
              <a:rPr>
                <a:solidFill>
                  <a:srgbClr val="40A070"/>
                </a:solidFill>
                <a:latin typeface="Courier"/>
              </a:rPr>
              <a:t>3</a:t>
            </a:r>
            <a:r>
              <a:rPr>
                <a:latin typeface="Courier"/>
              </a:rPr>
              <a:t>, .</a:t>
            </a:r>
            <a:r>
              <a:rPr>
                <a:solidFill>
                  <a:srgbClr val="40A070"/>
                </a:solidFill>
                <a:latin typeface="Courier"/>
              </a:rPr>
              <a:t>7</a:t>
            </a:r>
            <a:r>
              <a:rPr>
                <a:latin typeface="Courier"/>
              </a:rPr>
              <a:t>))</a:t>
            </a:r>
            <a:br/>
            <a:r>
              <a:rPr>
                <a:solidFill>
                  <a:srgbClr val="06287E"/>
                </a:solidFill>
                <a:latin typeface="Courier"/>
              </a:rPr>
              <a:t>sapply</a:t>
            </a:r>
            <a:r>
              <a:rPr>
                <a:latin typeface="Courier"/>
              </a:rPr>
              <a:t>(books, one_way)   </a:t>
            </a:r>
            <a:r>
              <a:rPr i="1">
                <a:solidFill>
                  <a:srgbClr val="60A0B0"/>
                </a:solidFill>
                <a:latin typeface="Courier"/>
              </a:rPr>
              <a:t># 1.673 1.909 2.121 2.208</a:t>
            </a:r>
            <a:br/>
            <a:r>
              <a:rPr>
                <a:solidFill>
                  <a:srgbClr val="06287E"/>
                </a:solidFill>
                <a:latin typeface="Courier"/>
              </a:rPr>
              <a:t>sapply</a:t>
            </a:r>
            <a:r>
              <a:rPr>
                <a:latin typeface="Courier"/>
              </a:rPr>
              <a:t>(books, pdp_rel)   </a:t>
            </a:r>
            <a:r>
              <a:rPr i="1">
                <a:solidFill>
                  <a:srgbClr val="60A0B0"/>
                </a:solidFill>
                <a:latin typeface="Courier"/>
              </a:rPr>
              <a:t># 1.627 1.837 2.075 1.837</a:t>
            </a:r>
            <a:br/>
            <a:r>
              <a:rPr>
                <a:latin typeface="Courier"/>
              </a:rPr>
              <a:t>coef_rel                 </a:t>
            </a:r>
            <a:r>
              <a:rPr i="1">
                <a:solidFill>
                  <a:srgbClr val="60A0B0"/>
                </a:solidFill>
                <a:latin typeface="Courier"/>
              </a:rPr>
              <a:t># 1.5</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Sources and prior art</a:t>
            </a:r>
          </a:p>
        </p:txBody>
      </p:sp>
      <p:sp>
        <p:nvSpPr>
          <p:cNvPr id="3" name="Content Placeholder 2"/>
          <p:cNvSpPr>
            <a:spLocks noGrp="1"/>
          </p:cNvSpPr>
          <p:nvPr>
            <p:ph idx="1"/>
          </p:nvPr>
        </p:nvSpPr>
        <p:spPr/>
        <p:txBody>
          <a:bodyPr/>
          <a:lstStyle/>
          <a:p>
            <a:pPr lvl="0" indent="0" marL="0">
              <a:buNone/>
            </a:pPr>
            <a:r>
              <a:rPr b="1"/>
              <a:t>Current practice</a:t>
            </a:r>
          </a:p>
          <a:p>
            <a:pPr lvl="0"/>
            <a:r>
              <a:rPr/>
              <a:t>Werner &amp; Modlin, </a:t>
            </a:r>
            <a:r>
              <a:rPr i="1"/>
              <a:t>Basic Ratemaking</a:t>
            </a:r>
            <a:r>
              <a:rPr/>
              <a:t> (CAS) — one-way vs. multivariate classification</a:t>
            </a:r>
          </a:p>
          <a:p>
            <a:pPr lvl="0"/>
            <a:r>
              <a:rPr/>
              <a:t>Anderson et al. 2007, </a:t>
            </a:r>
            <a:r>
              <a:rPr i="1"/>
              <a:t>A Practitioner’s Guide to GLMs</a:t>
            </a:r>
            <a:r>
              <a:rPr/>
              <a:t> (CAS); Goldburd, Khare, Tevet &amp; Guller, </a:t>
            </a:r>
            <a:r>
              <a:rPr i="1"/>
              <a:t>GLMs for Insurance Rating</a:t>
            </a:r>
            <a:r>
              <a:rPr/>
              <a:t> (CAS Monograph 5) — coefficients to rating factors, interactions, offsets</a:t>
            </a:r>
          </a:p>
          <a:p>
            <a:pPr lvl="0"/>
            <a:r>
              <a:rPr/>
              <a:t>Henckaerts, Côté, Antonio &amp; Verbelen 2021 (NAAJ); Henckaerts, Antonio &amp; Côté 2022 (maidrr) — tariffs from GBMs via partial dependence</a:t>
            </a:r>
          </a:p>
          <a:p>
            <a:pPr lvl="0"/>
            <a:r>
              <a:rPr/>
              <a:t>Lorentzen &amp; Mayer 2020; Wüthrich &amp; Merz 2023 — PDP/ALE as the interpretation tools in actuarial ML</a:t>
            </a:r>
          </a:p>
          <a:p>
            <a:pPr lvl="0" indent="0" marL="0">
              <a:buNone/>
            </a:pPr>
            <a:r>
              <a:rPr b="1"/>
              <a:t>The mathematics</a:t>
            </a:r>
          </a:p>
          <a:p>
            <a:pPr lvl="0"/>
            <a:r>
              <a:rPr/>
              <a:t>Friedman 2001 — partial dependence defined as an average over the book</a:t>
            </a:r>
          </a:p>
          <a:p>
            <a:pPr lvl="0"/>
            <a:r>
              <a:rPr/>
              <a:t>Hooker 2007; Apley &amp; Zhu 2020 — PDP equals the functional-ANOVA main effect only under independence</a:t>
            </a:r>
          </a:p>
          <a:p>
            <a:pPr lvl="0"/>
            <a:r>
              <a:rPr/>
              <a:t>Kuo, Sloan, Wasilkowski &amp; Woźniakowski 2010; Rabitz &amp; Alış 1999 — anchored vs. ANOVA decompositions (base cell vs. book average)</a:t>
            </a:r>
          </a:p>
          <a:p>
            <a:pPr lvl="0"/>
            <a:r>
              <a:rPr/>
              <a:t>Lengerich et al. 2020; Herren &amp; Hahn 2022; Hiabu, Meyer &amp; Wright 2023; Bordt &amp; von Luxburg 2023 — purified interactions, Möbius inversion, Shapley connections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Rating factors shouldn’t depend on who’s in the book</dc:title>
  <dc:creator>Ariel Balter</dc:creator>
  <cp:keywords/>
  <dcterms:created xsi:type="dcterms:W3CDTF">2026-10-23T21:41:23Z</dcterms:created>
  <dcterms:modified xsi:type="dcterms:W3CDTF">2026-10-23T21:41:23Z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October 23, 2026</vt:lpwstr>
  </property>
  <property fmtid="{D5CDD505-2E9C-101B-9397-08002B2CF9AE}" pid="6" name="date-format">
    <vt:lpwstr>MMMM D, YYYY</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subtitle">
    <vt:lpwstr>Relativities, coefficients, and the interaction decomposition</vt:lpwstr>
  </property>
  <property fmtid="{D5CDD505-2E9C-101B-9397-08002B2CF9AE}" pid="12" name="toc-title">
    <vt:lpwstr>Table of contents</vt:lpwstr>
  </property>
</Properties>
</file>